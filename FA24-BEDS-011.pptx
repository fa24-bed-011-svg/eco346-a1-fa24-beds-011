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B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C91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6304" y="0"/>
            <a:ext cx="91440" cy="6858000"/>
          </a:xfrm>
          <a:prstGeom prst="rect">
            <a:avLst/>
          </a:prstGeom>
          <a:solidFill>
            <a:srgbClr val="E1A8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31520"/>
            <a:ext cx="9966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300" b="1">
                <a:solidFill>
                  <a:srgbClr val="87DCD4"/>
                </a:solidFill>
                <a:latin typeface="Aptos"/>
              </a:defRPr>
            </a:pPr>
            <a:r>
              <a:t>ECO346  |  DATA VISUALIZATION TECHNIQUES FOR ECONOMISTS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08760"/>
            <a:ext cx="10515600" cy="1234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ptos"/>
              </a:defRPr>
            </a:pPr>
            <a:r>
              <a:t>Visualizing Annual Earnings</a:t>
            </a:r>
            <a:br/>
            <a:r>
              <a:t>by 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2971800"/>
            <a:ext cx="960120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2000" b="0">
                <a:solidFill>
                  <a:srgbClr val="DEE8F3"/>
                </a:solidFill>
                <a:latin typeface="Aptos"/>
              </a:defRPr>
            </a:pPr>
            <a:r>
              <a:t>PSLM sample • Sindh Urban • Ages 15–64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4160520"/>
            <a:ext cx="5029200" cy="1143000"/>
          </a:xfrm>
          <a:prstGeom prst="roundRect">
            <a:avLst/>
          </a:prstGeom>
          <a:solidFill>
            <a:srgbClr val="213C60"/>
          </a:solidFill>
          <a:ln>
            <a:solidFill>
              <a:srgbClr val="405C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4370832"/>
            <a:ext cx="4572000" cy="228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000" b="1">
                <a:solidFill>
                  <a:srgbClr val="ACC2D8"/>
                </a:solidFill>
                <a:latin typeface="Aptos"/>
              </a:defRPr>
            </a:pPr>
            <a:r>
              <a:t>REGISTRATION NUMBER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4663440"/>
            <a:ext cx="4572000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ptos"/>
              </a:defRPr>
            </a:pPr>
            <a:r>
              <a:t>FA24-BEDS-011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6144768"/>
            <a:ext cx="1033272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200" b="0">
                <a:solidFill>
                  <a:srgbClr val="DEE8F3"/>
                </a:solidFill>
                <a:latin typeface="Aptos"/>
              </a:defRPr>
            </a:pPr>
            <a:r>
              <a:t>Variant: Sindh Urban  •  Weighted analysis using household weights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73952"/>
            <a:ext cx="548640" cy="182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 sz="900" b="0">
                <a:solidFill>
                  <a:srgbClr val="DEE8F3"/>
                </a:solidFill>
                <a:latin typeface="Aptos"/>
              </a:defRPr>
            </a:pPr>
            <a:r>
              <a:t>1/4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C91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109728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000" b="1">
                <a:solidFill>
                  <a:srgbClr val="1C918C"/>
                </a:solidFill>
                <a:latin typeface="Aptos"/>
              </a:defRPr>
            </a:pPr>
            <a:r>
              <a:t>Q2 • EARNINGS DISTRIBUTION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2700" b="1">
                <a:solidFill>
                  <a:srgbClr val="162B4B"/>
                </a:solidFill>
                <a:latin typeface="Aptos"/>
              </a:defRPr>
            </a:pPr>
            <a:r>
              <a:t>Annual earnings are strongly spread 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188720"/>
            <a:ext cx="109728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200" b="0">
                <a:solidFill>
                  <a:srgbClr val="5F6B79"/>
                </a:solidFill>
                <a:latin typeface="Aptos"/>
              </a:defRPr>
            </a:pPr>
            <a:r>
              <a:t>Positive annual earners • Sindh Urban • Ages 15–64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2606040" cy="1188720"/>
          </a:xfrm>
          <a:prstGeom prst="roundRect">
            <a:avLst/>
          </a:prstGeom>
          <a:solidFill>
            <a:srgbClr val="EFF5FA"/>
          </a:solidFill>
          <a:ln>
            <a:solidFill>
              <a:srgbClr val="DCEA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1" y="1856231"/>
            <a:ext cx="2276856" cy="228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000" b="1">
                <a:solidFill>
                  <a:srgbClr val="5F6B79"/>
                </a:solidFill>
                <a:latin typeface="Aptos"/>
              </a:defRPr>
            </a:pPr>
            <a:r>
              <a:t>VALID EARNERS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1" y="2121408"/>
            <a:ext cx="2276856" cy="43891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2300" b="1">
                <a:solidFill>
                  <a:srgbClr val="3469AA"/>
                </a:solidFill>
                <a:latin typeface="Aptos"/>
              </a:defRPr>
            </a:pPr>
            <a:r>
              <a:t>2,644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1" y="2606040"/>
            <a:ext cx="2276856" cy="2011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900" b="0">
                <a:solidFill>
                  <a:srgbClr val="5F6B79"/>
                </a:solidFill>
                <a:latin typeface="Aptos"/>
              </a:defRPr>
            </a:pPr>
            <a:r>
              <a:t>After sample and missing-value filters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1737360"/>
            <a:ext cx="2606040" cy="1188720"/>
          </a:xfrm>
          <a:prstGeom prst="roundRect">
            <a:avLst/>
          </a:prstGeom>
          <a:solidFill>
            <a:srgbClr val="EFF5FA"/>
          </a:solidFill>
          <a:ln>
            <a:solidFill>
              <a:srgbClr val="DCEA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93592" y="1856231"/>
            <a:ext cx="2276856" cy="228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000" b="1">
                <a:solidFill>
                  <a:srgbClr val="5F6B79"/>
                </a:solidFill>
                <a:latin typeface="Aptos"/>
              </a:defRPr>
            </a:pPr>
            <a:r>
              <a:t>WEIGHTED MEDIAN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93592" y="2121408"/>
            <a:ext cx="2276856" cy="43891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2300" b="1">
                <a:solidFill>
                  <a:srgbClr val="1C918C"/>
                </a:solidFill>
                <a:latin typeface="Aptos"/>
              </a:defRPr>
            </a:pPr>
            <a:r>
              <a:t>Rs 264,000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737360"/>
            <a:ext cx="2606040" cy="1188720"/>
          </a:xfrm>
          <a:prstGeom prst="roundRect">
            <a:avLst/>
          </a:prstGeom>
          <a:solidFill>
            <a:srgbClr val="EFF5FA"/>
          </a:solidFill>
          <a:ln>
            <a:solidFill>
              <a:srgbClr val="DCEA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1856231"/>
            <a:ext cx="2276856" cy="228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000" b="1">
                <a:solidFill>
                  <a:srgbClr val="5F6B79"/>
                </a:solidFill>
                <a:latin typeface="Aptos"/>
              </a:defRPr>
            </a:pPr>
            <a:r>
              <a:t>WEIGHTED P90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82512" y="2121408"/>
            <a:ext cx="2276856" cy="43891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2300" b="1">
                <a:solidFill>
                  <a:srgbClr val="3469AA"/>
                </a:solidFill>
                <a:latin typeface="Aptos"/>
              </a:defRPr>
            </a:pPr>
            <a:r>
              <a:t>Rs 696,000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06840" y="1737360"/>
            <a:ext cx="2514600" cy="1188720"/>
          </a:xfrm>
          <a:prstGeom prst="roundRect">
            <a:avLst/>
          </a:prstGeom>
          <a:solidFill>
            <a:srgbClr val="EFF5FA"/>
          </a:solidFill>
          <a:ln>
            <a:solidFill>
              <a:srgbClr val="DCEA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71432" y="1856231"/>
            <a:ext cx="2185416" cy="228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000" b="1">
                <a:solidFill>
                  <a:srgbClr val="5F6B79"/>
                </a:solidFill>
                <a:latin typeface="Aptos"/>
              </a:defRPr>
            </a:pPr>
            <a:r>
              <a:t>P90 / P10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71432" y="2121408"/>
            <a:ext cx="2185416" cy="43891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2300" b="1">
                <a:solidFill>
                  <a:srgbClr val="E1A83E"/>
                </a:solidFill>
                <a:latin typeface="Aptos"/>
              </a:defRPr>
            </a:pPr>
            <a:r>
              <a:t>5.8×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71432" y="2606040"/>
            <a:ext cx="2185416" cy="2011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900" b="0">
                <a:solidFill>
                  <a:srgbClr val="5F6B79"/>
                </a:solidFill>
                <a:latin typeface="Aptos"/>
              </a:defRPr>
            </a:pPr>
            <a:r>
              <a:t>P10 = Rs 120,000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246120"/>
            <a:ext cx="54864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800" b="1">
                <a:solidFill>
                  <a:srgbClr val="162B4B"/>
                </a:solidFill>
                <a:latin typeface="Aptos"/>
              </a:defRPr>
            </a:pPr>
            <a:r>
              <a:t>Distribution summary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3977639"/>
            <a:ext cx="9966960" cy="384048"/>
          </a:xfrm>
          <a:prstGeom prst="roundRect">
            <a:avLst/>
          </a:prstGeom>
          <a:solidFill>
            <a:srgbClr val="DCE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087575" y="3867911"/>
            <a:ext cx="45720" cy="603503"/>
          </a:xfrm>
          <a:prstGeom prst="rect">
            <a:avLst/>
          </a:prstGeom>
          <a:solidFill>
            <a:srgbClr val="3469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516075" y="4553712"/>
            <a:ext cx="1234440" cy="5303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1200" b="1">
                <a:solidFill>
                  <a:srgbClr val="3469AA"/>
                </a:solidFill>
                <a:latin typeface="Aptos"/>
              </a:defRPr>
            </a:pPr>
            <a:r>
              <a:t>P10</a:t>
            </a:r>
            <a:br/>
            <a:r>
              <a:t>Rs 120k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522817" y="3867911"/>
            <a:ext cx="45720" cy="603503"/>
          </a:xfrm>
          <a:prstGeom prst="rect">
            <a:avLst/>
          </a:prstGeom>
          <a:solidFill>
            <a:srgbClr val="1C91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51317" y="4553712"/>
            <a:ext cx="1234440" cy="5303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1200" b="1">
                <a:solidFill>
                  <a:srgbClr val="1C918C"/>
                </a:solidFill>
                <a:latin typeface="Aptos"/>
              </a:defRPr>
            </a:pPr>
            <a:r>
              <a:t>Median</a:t>
            </a:r>
            <a:br/>
            <a:r>
              <a:t>Rs 264k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828544" y="3867911"/>
            <a:ext cx="45720" cy="603503"/>
          </a:xfrm>
          <a:prstGeom prst="rect">
            <a:avLst/>
          </a:prstGeom>
          <a:solidFill>
            <a:srgbClr val="E1A8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57044" y="4553712"/>
            <a:ext cx="1234440" cy="5303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1200" b="1">
                <a:solidFill>
                  <a:srgbClr val="E1A83E"/>
                </a:solidFill>
                <a:latin typeface="Aptos"/>
              </a:defRPr>
            </a:pPr>
            <a:r>
              <a:t>P90</a:t>
            </a:r>
            <a:br/>
            <a:r>
              <a:t>Rs 696k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5349240"/>
            <a:ext cx="10515600" cy="594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600" b="0">
                <a:solidFill>
                  <a:srgbClr val="28313D"/>
                </a:solidFill>
                <a:latin typeface="Aptos"/>
              </a:defRPr>
            </a:pPr>
            <a:r>
              <a:t>Key finding: the 90th-percentile earner receives about 5.8 times the 10th-percentile earner. The weighted median (Rs 264,000) is slightly above the unweighted median (Rs 252,000).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6053328"/>
            <a:ext cx="10515600" cy="228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000" b="0">
                <a:solidFill>
                  <a:srgbClr val="5F6B79"/>
                </a:solidFill>
                <a:latin typeface="Aptos"/>
              </a:defRPr>
            </a:pPr>
            <a:r>
              <a:t>Source: PSLM subset. Weighted quantiles use household weight (hhweight).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6510528"/>
            <a:ext cx="9144000" cy="16459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900" b="0">
                <a:solidFill>
                  <a:srgbClr val="5F6B79"/>
                </a:solidFill>
                <a:latin typeface="Aptos"/>
              </a:defRPr>
            </a:pPr>
            <a:r>
              <a:t>ECO346 • Data Visualization Assignment • Sindh Urban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64240" y="6492240"/>
            <a:ext cx="502920" cy="182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 sz="900" b="0">
                <a:solidFill>
                  <a:srgbClr val="5F6B79"/>
                </a:solidFill>
                <a:latin typeface="Aptos"/>
              </a:defRPr>
            </a:pPr>
            <a:r>
              <a:t>2/4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C91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109728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000" b="1">
                <a:solidFill>
                  <a:srgbClr val="1C918C"/>
                </a:solidFill>
                <a:latin typeface="Aptos"/>
              </a:defRPr>
            </a:pPr>
            <a:r>
              <a:t>Q3 • AGE AND EARNINGS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2700" b="1">
                <a:solidFill>
                  <a:srgbClr val="162B4B"/>
                </a:solidFill>
                <a:latin typeface="Aptos"/>
              </a:defRPr>
            </a:pPr>
            <a:r>
              <a:t>Weighted mean earnings generally rise with 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188720"/>
            <a:ext cx="109728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200" b="0">
                <a:solidFill>
                  <a:srgbClr val="5F6B79"/>
                </a:solidFill>
                <a:latin typeface="Aptos"/>
              </a:defRPr>
            </a:pPr>
            <a:r>
              <a:t>Band means use household weights; age bands are five years wide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37360"/>
            <a:ext cx="566928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700" b="1">
                <a:solidFill>
                  <a:srgbClr val="162B4B"/>
                </a:solidFill>
                <a:latin typeface="Aptos"/>
              </a:defRPr>
            </a:pPr>
            <a:r>
              <a:t>Weighted mean by age band (Rs)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2331720"/>
            <a:ext cx="5074920" cy="2560320"/>
          </a:xfrm>
          <a:prstGeom prst="rect">
            <a:avLst/>
          </a:prstGeom>
          <a:solidFill>
            <a:srgbClr val="FFFFFF"/>
          </a:solidFill>
          <a:ln>
            <a:solidFill>
              <a:srgbClr val="DCEA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88720" y="2651760"/>
            <a:ext cx="4617720" cy="7315"/>
          </a:xfrm>
          <a:prstGeom prst="rect">
            <a:avLst/>
          </a:prstGeom>
          <a:solidFill>
            <a:srgbClr val="DCE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88720" y="3273552"/>
            <a:ext cx="4617720" cy="7315"/>
          </a:xfrm>
          <a:prstGeom prst="rect">
            <a:avLst/>
          </a:prstGeom>
          <a:solidFill>
            <a:srgbClr val="DCE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88720" y="3895344"/>
            <a:ext cx="4617720" cy="7315"/>
          </a:xfrm>
          <a:prstGeom prst="rect">
            <a:avLst/>
          </a:prstGeom>
          <a:solidFill>
            <a:srgbClr val="DCE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8720" y="4517136"/>
            <a:ext cx="4617720" cy="7315"/>
          </a:xfrm>
          <a:prstGeom prst="rect">
            <a:avLst/>
          </a:prstGeom>
          <a:solidFill>
            <a:srgbClr val="DCE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0654172">
            <a:off x="1280160" y="4409588"/>
            <a:ext cx="512017" cy="27432"/>
          </a:xfrm>
          <a:prstGeom prst="rect">
            <a:avLst/>
          </a:prstGeom>
          <a:solidFill>
            <a:srgbClr val="1C91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19400642">
            <a:off x="1772919" y="4270487"/>
            <a:ext cx="614234" cy="27432"/>
          </a:xfrm>
          <a:prstGeom prst="rect">
            <a:avLst/>
          </a:prstGeom>
          <a:solidFill>
            <a:srgbClr val="1C91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19486483">
            <a:off x="2265680" y="3903784"/>
            <a:ext cx="603214" cy="27432"/>
          </a:xfrm>
          <a:prstGeom prst="rect">
            <a:avLst/>
          </a:prstGeom>
          <a:solidFill>
            <a:srgbClr val="1C91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600887">
            <a:off x="2758440" y="3555854"/>
            <a:ext cx="500384" cy="27432"/>
          </a:xfrm>
          <a:prstGeom prst="rect">
            <a:avLst/>
          </a:prstGeom>
          <a:solidFill>
            <a:srgbClr val="1C91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19278664">
            <a:off x="3251200" y="3642872"/>
            <a:ext cx="631297" cy="27432"/>
          </a:xfrm>
          <a:prstGeom prst="rect">
            <a:avLst/>
          </a:prstGeom>
          <a:solidFill>
            <a:srgbClr val="1C91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470282">
            <a:off x="3743959" y="3248253"/>
            <a:ext cx="497407" cy="27432"/>
          </a:xfrm>
          <a:prstGeom prst="rect">
            <a:avLst/>
          </a:prstGeom>
          <a:solidFill>
            <a:srgbClr val="1C91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19044528">
            <a:off x="4236720" y="3316086"/>
            <a:ext cx="669328" cy="27432"/>
          </a:xfrm>
          <a:prstGeom prst="rect">
            <a:avLst/>
          </a:prstGeom>
          <a:solidFill>
            <a:srgbClr val="1C91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1230564">
            <a:off x="4729480" y="2863110"/>
            <a:ext cx="495619" cy="27432"/>
          </a:xfrm>
          <a:prstGeom prst="rect">
            <a:avLst/>
          </a:prstGeom>
          <a:solidFill>
            <a:srgbClr val="1C91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995948">
            <a:off x="5222239" y="2809951"/>
            <a:ext cx="765523" cy="27432"/>
          </a:xfrm>
          <a:prstGeom prst="rect">
            <a:avLst/>
          </a:prstGeom>
          <a:solidFill>
            <a:srgbClr val="1C91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216151" y="4359296"/>
            <a:ext cx="128016" cy="128016"/>
          </a:xfrm>
          <a:prstGeom prst="ellipse">
            <a:avLst/>
          </a:prstGeom>
          <a:solidFill>
            <a:srgbClr val="1C918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708911" y="4220195"/>
            <a:ext cx="128016" cy="128016"/>
          </a:xfrm>
          <a:prstGeom prst="ellipse">
            <a:avLst/>
          </a:prstGeom>
          <a:solidFill>
            <a:srgbClr val="1C918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201672" y="3853492"/>
            <a:ext cx="128016" cy="128016"/>
          </a:xfrm>
          <a:prstGeom prst="ellipse">
            <a:avLst/>
          </a:prstGeom>
          <a:solidFill>
            <a:srgbClr val="1C918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694432" y="3505562"/>
            <a:ext cx="128016" cy="128016"/>
          </a:xfrm>
          <a:prstGeom prst="ellipse">
            <a:avLst/>
          </a:prstGeom>
          <a:solidFill>
            <a:srgbClr val="1C918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187192" y="3592580"/>
            <a:ext cx="128016" cy="128016"/>
          </a:xfrm>
          <a:prstGeom prst="ellipse">
            <a:avLst/>
          </a:prstGeom>
          <a:solidFill>
            <a:srgbClr val="1C918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679951" y="3197961"/>
            <a:ext cx="128016" cy="128016"/>
          </a:xfrm>
          <a:prstGeom prst="ellipse">
            <a:avLst/>
          </a:prstGeom>
          <a:solidFill>
            <a:srgbClr val="1C918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172711" y="3265794"/>
            <a:ext cx="128016" cy="128016"/>
          </a:xfrm>
          <a:prstGeom prst="ellipse">
            <a:avLst/>
          </a:prstGeom>
          <a:solidFill>
            <a:srgbClr val="1C918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665472" y="2812818"/>
            <a:ext cx="128016" cy="128016"/>
          </a:xfrm>
          <a:prstGeom prst="ellipse">
            <a:avLst/>
          </a:prstGeom>
          <a:solidFill>
            <a:srgbClr val="1C918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158231" y="2759659"/>
            <a:ext cx="128016" cy="128016"/>
          </a:xfrm>
          <a:prstGeom prst="ellipse">
            <a:avLst/>
          </a:prstGeom>
          <a:solidFill>
            <a:srgbClr val="1C918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650992" y="3345503"/>
            <a:ext cx="128016" cy="128016"/>
          </a:xfrm>
          <a:prstGeom prst="ellipse">
            <a:avLst/>
          </a:prstGeom>
          <a:solidFill>
            <a:srgbClr val="1C918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4956048"/>
            <a:ext cx="5303520" cy="2011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900" b="0">
                <a:solidFill>
                  <a:srgbClr val="5F6B79"/>
                </a:solidFill>
                <a:latin typeface="Aptos"/>
              </a:defRPr>
            </a:pPr>
            <a:r>
              <a:t>15–19     25–29     35–39     45–49     55–59     60–64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230368"/>
            <a:ext cx="530352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300" b="1">
                <a:solidFill>
                  <a:srgbClr val="1C918C"/>
                </a:solidFill>
                <a:latin typeface="Aptos"/>
              </a:defRPr>
            </a:pPr>
            <a:r>
              <a:t>Peak band: ages 55–59, with weighted mean annual earnings of Rs 542,400.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37960" y="1737360"/>
            <a:ext cx="5029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700" b="1">
                <a:solidFill>
                  <a:srgbClr val="162B4B"/>
                </a:solidFill>
                <a:latin typeface="Aptos"/>
              </a:defRPr>
            </a:pPr>
            <a:r>
              <a:t>Selected age-band results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537960" y="2240280"/>
          <a:ext cx="507492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822960"/>
                <a:gridCol w="2834640"/>
              </a:tblGrid>
              <a:tr h="466344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Age band</a:t>
                      </a:r>
                    </a:p>
                  </a:txBody>
                  <a:tcPr marL="73152" marR="45720" marT="36576" marB="36576">
                    <a:solidFill>
                      <a:srgbClr val="162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n</a:t>
                      </a:r>
                    </a:p>
                  </a:txBody>
                  <a:tcPr marL="73152" marR="45720" marT="36576" marB="36576">
                    <a:solidFill>
                      <a:srgbClr val="162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Weighted mean</a:t>
                      </a:r>
                    </a:p>
                  </a:txBody>
                  <a:tcPr marL="73152" marR="45720" marT="36576" marB="36576">
                    <a:solidFill>
                      <a:srgbClr val="162B4B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8313D"/>
                          </a:solidFill>
                          <a:latin typeface="Aptos"/>
                        </a:defRPr>
                      </a:pPr>
                      <a:r>
                        <a:t>25–29</a:t>
                      </a:r>
                    </a:p>
                  </a:txBody>
                  <a:tcPr marL="73152" marR="45720" marT="36576" marB="36576">
                    <a:solidFill>
                      <a:srgbClr val="EF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8313D"/>
                          </a:solidFill>
                          <a:latin typeface="Aptos"/>
                        </a:defRPr>
                      </a:pPr>
                      <a:r>
                        <a:t>398</a:t>
                      </a:r>
                    </a:p>
                  </a:txBody>
                  <a:tcPr marL="73152" marR="45720" marT="36576" marB="36576">
                    <a:solidFill>
                      <a:srgbClr val="EF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8313D"/>
                          </a:solidFill>
                          <a:latin typeface="Aptos"/>
                        </a:defRPr>
                      </a:pPr>
                      <a:r>
                        <a:t>Rs 303,153.9</a:t>
                      </a:r>
                    </a:p>
                  </a:txBody>
                  <a:tcPr marL="73152" marR="45720" marT="36576" marB="36576">
                    <a:solidFill>
                      <a:srgbClr val="EFF5FA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8313D"/>
                          </a:solidFill>
                          <a:latin typeface="Aptos"/>
                        </a:defRPr>
                      </a:pPr>
                      <a:r>
                        <a:t>45–49</a:t>
                      </a:r>
                    </a:p>
                  </a:txBody>
                  <a:tcPr marL="73152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8313D"/>
                          </a:solidFill>
                          <a:latin typeface="Aptos"/>
                        </a:defRPr>
                      </a:pPr>
                      <a:r>
                        <a:t>250</a:t>
                      </a:r>
                    </a:p>
                  </a:txBody>
                  <a:tcPr marL="73152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8313D"/>
                          </a:solidFill>
                          <a:latin typeface="Aptos"/>
                        </a:defRPr>
                      </a:pPr>
                      <a:r>
                        <a:t>Rs 431,696.7</a:t>
                      </a:r>
                    </a:p>
                  </a:txBody>
                  <a:tcPr marL="73152" marR="45720" marT="36576" marB="36576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8313D"/>
                          </a:solidFill>
                          <a:latin typeface="Aptos"/>
                        </a:defRPr>
                      </a:pPr>
                      <a:r>
                        <a:t>55–59</a:t>
                      </a:r>
                    </a:p>
                  </a:txBody>
                  <a:tcPr marL="73152" marR="45720" marT="36576" marB="36576">
                    <a:solidFill>
                      <a:srgbClr val="EF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8313D"/>
                          </a:solidFill>
                          <a:latin typeface="Aptos"/>
                        </a:defRPr>
                      </a:pPr>
                      <a:r>
                        <a:t>157</a:t>
                      </a:r>
                    </a:p>
                  </a:txBody>
                  <a:tcPr marL="73152" marR="45720" marT="36576" marB="36576">
                    <a:solidFill>
                      <a:srgbClr val="EF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8313D"/>
                          </a:solidFill>
                          <a:latin typeface="Aptos"/>
                        </a:defRPr>
                      </a:pPr>
                      <a:r>
                        <a:t>Rs 542,400.0</a:t>
                      </a:r>
                    </a:p>
                  </a:txBody>
                  <a:tcPr marL="73152" marR="45720" marT="36576" marB="36576">
                    <a:solidFill>
                      <a:srgbClr val="EFF5FA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8313D"/>
                          </a:solidFill>
                          <a:latin typeface="Aptos"/>
                        </a:defRPr>
                      </a:pPr>
                      <a:r>
                        <a:t>60–64</a:t>
                      </a:r>
                    </a:p>
                  </a:txBody>
                  <a:tcPr marL="73152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8313D"/>
                          </a:solidFill>
                          <a:latin typeface="Aptos"/>
                        </a:defRPr>
                      </a:pPr>
                      <a:r>
                        <a:t>72</a:t>
                      </a:r>
                    </a:p>
                  </a:txBody>
                  <a:tcPr marL="73152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8313D"/>
                          </a:solidFill>
                          <a:latin typeface="Aptos"/>
                        </a:defRPr>
                      </a:pPr>
                      <a:r>
                        <a:t>Rs 414,262.5</a:t>
                      </a:r>
                    </a:p>
                  </a:txBody>
                  <a:tcPr marL="73152" marR="4572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583680" y="4800600"/>
            <a:ext cx="493776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300" b="0">
                <a:solidFill>
                  <a:srgbClr val="28313D"/>
                </a:solidFill>
                <a:latin typeface="Aptos"/>
              </a:defRPr>
            </a:pPr>
            <a:r>
              <a:t>Interpretation: earnings do not increase smoothly at every age band. The pattern is consistent with experience-related earnings growth, but the cross-sectional data cannot prove that individuals’ earnings rise as they age.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" y="6510528"/>
            <a:ext cx="9144000" cy="16459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900" b="0">
                <a:solidFill>
                  <a:srgbClr val="5F6B79"/>
                </a:solidFill>
                <a:latin typeface="Aptos"/>
              </a:defRPr>
            </a:pPr>
            <a:r>
              <a:t>ECO346 • Data Visualization Assignment • Sindh Urban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64240" y="6492240"/>
            <a:ext cx="502920" cy="182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 sz="900" b="0">
                <a:solidFill>
                  <a:srgbClr val="5F6B79"/>
                </a:solidFill>
                <a:latin typeface="Aptos"/>
              </a:defRPr>
            </a:pPr>
            <a:r>
              <a:t>3/4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C91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109728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000" b="1">
                <a:solidFill>
                  <a:srgbClr val="1C918C"/>
                </a:solidFill>
                <a:latin typeface="Aptos"/>
              </a:defRPr>
            </a:pPr>
            <a:r>
              <a:t>Q4–Q5 • DESIGN AND REPRODUCIBILITY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2700" b="1">
                <a:solidFill>
                  <a:srgbClr val="162B4B"/>
                </a:solidFill>
                <a:latin typeface="Aptos"/>
              </a:defRPr>
            </a:pPr>
            <a:r>
              <a:t>Redesign makes the age pattern easier to 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188720"/>
            <a:ext cx="109728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200" b="0">
                <a:solidFill>
                  <a:srgbClr val="5F6B79"/>
                </a:solidFill>
                <a:latin typeface="Aptos"/>
              </a:defRPr>
            </a:pPr>
            <a:r>
              <a:t>Default scatterplot compared with an annotated, weighted summary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5257800" cy="2468880"/>
          </a:xfrm>
          <a:prstGeom prst="roundRect">
            <a:avLst/>
          </a:prstGeom>
          <a:solidFill>
            <a:srgbClr val="EFF5FA"/>
          </a:solidFill>
          <a:ln>
            <a:solidFill>
              <a:srgbClr val="DCEA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1947672"/>
            <a:ext cx="484632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200" b="1">
                <a:solidFill>
                  <a:srgbClr val="5F6B79"/>
                </a:solidFill>
                <a:latin typeface="Aptos"/>
              </a:defRPr>
            </a:pPr>
            <a:r>
              <a:t>DEFAULT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221992"/>
            <a:ext cx="4800600" cy="228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000" b="0">
                <a:solidFill>
                  <a:srgbClr val="5F6B79"/>
                </a:solidFill>
                <a:latin typeface="Aptos"/>
              </a:defRPr>
            </a:pPr>
            <a:r>
              <a:t>Raw points only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57800" cy="2468880"/>
          </a:xfrm>
          <a:prstGeom prst="roundRect">
            <a:avLst/>
          </a:prstGeom>
          <a:solidFill>
            <a:srgbClr val="EFF5FA"/>
          </a:solidFill>
          <a:ln>
            <a:solidFill>
              <a:srgbClr val="DCEA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9088" y="1947672"/>
            <a:ext cx="484632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200" b="1">
                <a:solidFill>
                  <a:srgbClr val="1C918C"/>
                </a:solidFill>
                <a:latin typeface="Aptos"/>
              </a:defRPr>
            </a:pPr>
            <a:r>
              <a:t>REDESIGN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9088" y="2221992"/>
            <a:ext cx="4800600" cy="228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000" b="0">
                <a:solidFill>
                  <a:srgbClr val="5F6B79"/>
                </a:solidFill>
                <a:latin typeface="Aptos"/>
              </a:defRPr>
            </a:pPr>
            <a:r>
              <a:t>Transparency + log scale + weighted means</a:t>
            </a:r>
          </a:p>
        </p:txBody>
      </p:sp>
      <p:sp>
        <p:nvSpPr>
          <p:cNvPr id="12" name="Oval 11"/>
          <p:cNvSpPr/>
          <p:nvPr/>
        </p:nvSpPr>
        <p:spPr>
          <a:xfrm>
            <a:off x="5146319" y="2882976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999523" y="3716063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39800" y="3471289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359446" y="3700089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829152" y="3561094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960605" y="3547742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72222" y="3758203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173815" y="3443657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280444" y="3268942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585038" y="3758796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504660" y="3278143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938017" y="3296403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353939" y="3436159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399126" y="3476561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49363" y="3298382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383142" y="3743460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105877" y="3297068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633384" y="3453571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67704" y="3650359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768241" y="3627362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652991" y="3619416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477479" y="3747487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136342" y="3674994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552872" y="3177668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457435" y="3569974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265880" y="3617086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479676" y="3315135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129794" y="3734225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507859" y="3174351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4710438" y="3579596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429110" y="3118848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3642826" y="3072655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717184" y="3296636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213228" y="3609658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065866" y="3450399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4070603" y="2996367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4603611" y="2950380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397956" y="3071780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350368" y="3498232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5370487" y="3421297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835112" y="3754819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069175" y="3659384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5185756" y="2876278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937575" y="3738885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3354386" y="3671592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3420824" y="3197643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2105551" y="3557781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5037709" y="3373671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2511621" y="3245788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4643407" y="2993443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4073043" y="3456307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4096935" y="3111498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3854731" y="3606028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2296518" y="3554328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4452894" y="3310020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3449291" y="3184491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1450978" y="3494330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2465118" y="3454053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741145" y="3569261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5266957" y="3717989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503985" y="3390824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2024160" y="3485619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3090762" y="3483972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4211709" y="3791454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2667328" y="3295385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1602233" y="3364709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1881628" y="3432069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743915" y="3563626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2872700" y="3740557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4126735" y="3397512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4078770" y="3352131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3476147" y="3404443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2308021" y="3265864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1351148" y="3389038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4868400" y="3334444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4476805" y="3206731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3698852" y="3569883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2406940" y="3584619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2327833" y="3227500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2504835" y="3556679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2859163" y="3255180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3122590" y="3409658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2116502" y="3638115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1363357" y="3693858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2154551" y="3310393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3234439" y="3716369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3054533" y="3711741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3522116" y="3464086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4844955" y="3555811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4811359" y="3567659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5407706" y="3163430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153299" y="3442147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2207773" y="3586355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1623598" y="3377212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1369178" y="3451322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2751282" y="3355376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2286618" y="3748915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5102435" y="3169196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728150" y="3294625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5087262" y="3620661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046571" y="3536410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589959" y="3433070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3082382" y="3305391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3539155" y="3216620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4679038" y="3252253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3636953" y="3545371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1567048" y="3749331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4838887" y="3604990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2890870" y="3584117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3764782" y="3378873"/>
            <a:ext cx="41148" cy="41148"/>
          </a:xfrm>
          <a:prstGeom prst="ellipse">
            <a:avLst/>
          </a:prstGeom>
          <a:solidFill>
            <a:srgbClr val="6E7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10426213" y="3324010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8176046" y="3344050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9909144" y="2965934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7949392" y="3242674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10980203" y="2771797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7122733" y="3550235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10041253" y="3025656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6716818" y="3566890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9815692" y="3109164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8959935" y="3563819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8379285" y="3669338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7966825" y="3480190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10262816" y="3204278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8413495" y="3559383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7964999" y="3353293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8554230" y="3598550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10257351" y="3216341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10917222" y="3199477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9358139" y="3395903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9291221" y="3051507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10979553" y="3076639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8485343" y="3665998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10340934" y="3367545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8269025" y="3671060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6692435" y="3569801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10949858" y="3004257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9746209" y="3186121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7773060" y="3619886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9264380" y="3658471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9199759" y="3345007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8993459" y="3622355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6843934" y="3531390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7196872" y="3438258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7939006" y="3381722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9933622" y="3218028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8944054" y="3573029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8109435" y="3173009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7753579" y="3563445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8770701" y="3356212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10117090" y="3459396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10895988" y="3682508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10115362" y="3232760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10616882" y="3566042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9657562" y="2982305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9557241" y="3619365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10706371" y="2821422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7039490" y="3379888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6897023" y="3673175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10138048" y="3106406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10870457" y="3113909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8854048" y="3527137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9130864" y="3021785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9464949" y="3060707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7431665" y="3375214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9850184" y="3647455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10250412" y="3554534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7521710" y="3675213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9537390" y="3597421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10954241" y="3703281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10201939" y="3067002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9114771" y="3311834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10149833" y="3174623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7168793" y="3377211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8139712" y="3384262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8857382" y="3117469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8413472" y="3203844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6908236" y="3581853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9573167" y="3244811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10305269" y="3526015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10177958" y="3039146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7184879" y="3645776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9178082" y="3026832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9315879" y="3398241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8832178" y="3181584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8901976" y="3352094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9223331" y="3051049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10160784" y="3004847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7742878" y="3408987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10263477" y="3095126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10846147" y="2852833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7115641" y="3499158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8157288" y="3590692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8804721" y="3073233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10015376" y="3622844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7659255" y="3526398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10544394" y="3295926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7259998" y="3471056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7656975" y="3684983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9220539" y="3010316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10049974" y="3102070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7228831" y="3468670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9420864" y="3150885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8559886" y="3671017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10737023" y="3460657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9880258" y="3335345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10064816" y="3426792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6956468" y="3541006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8710651" y="3206150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8365467" y="3317794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8241243" y="3292364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7326555" y="3323520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10812535" y="3681399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10423307" y="3026806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9674691" y="3622452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9855083" y="3094371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9372668" y="3008612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10824124" y="3116498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10724869" y="3572166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7888117" y="3432583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8903741" y="3079595"/>
            <a:ext cx="45720" cy="45720"/>
          </a:xfrm>
          <a:prstGeom prst="ellipse">
            <a:avLst/>
          </a:prstGeom>
          <a:solidFill>
            <a:srgbClr val="8C9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 rot="20598045">
            <a:off x="6629400" y="3668572"/>
            <a:ext cx="477330" cy="32918"/>
          </a:xfrm>
          <a:prstGeom prst="rect">
            <a:avLst/>
          </a:prstGeom>
          <a:solidFill>
            <a:srgbClr val="1C91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 rot="20006097">
            <a:off x="7086600" y="3531412"/>
            <a:ext cx="511165" cy="32918"/>
          </a:xfrm>
          <a:prstGeom prst="rect">
            <a:avLst/>
          </a:prstGeom>
          <a:solidFill>
            <a:srgbClr val="1C91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Rectangle 233"/>
          <p:cNvSpPr/>
          <p:nvPr/>
        </p:nvSpPr>
        <p:spPr>
          <a:xfrm rot="20412067">
            <a:off x="7543800" y="3302812"/>
            <a:ext cx="485924" cy="32918"/>
          </a:xfrm>
          <a:prstGeom prst="rect">
            <a:avLst/>
          </a:prstGeom>
          <a:solidFill>
            <a:srgbClr val="1C91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Rectangle 234"/>
          <p:cNvSpPr/>
          <p:nvPr/>
        </p:nvSpPr>
        <p:spPr>
          <a:xfrm rot="342636">
            <a:off x="8001000" y="3138220"/>
            <a:ext cx="459480" cy="32918"/>
          </a:xfrm>
          <a:prstGeom prst="rect">
            <a:avLst/>
          </a:prstGeom>
          <a:solidFill>
            <a:srgbClr val="1C91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Rectangle 235"/>
          <p:cNvSpPr/>
          <p:nvPr/>
        </p:nvSpPr>
        <p:spPr>
          <a:xfrm rot="20061540">
            <a:off x="8458200" y="3183940"/>
            <a:ext cx="507141" cy="32918"/>
          </a:xfrm>
          <a:prstGeom prst="rect">
            <a:avLst/>
          </a:prstGeom>
          <a:solidFill>
            <a:srgbClr val="1C91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 rot="20725547">
            <a:off x="8915400" y="2964484"/>
            <a:ext cx="472400" cy="32918"/>
          </a:xfrm>
          <a:prstGeom prst="rect">
            <a:avLst/>
          </a:prstGeom>
          <a:solidFill>
            <a:srgbClr val="1C91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Rectangle 237"/>
          <p:cNvSpPr/>
          <p:nvPr/>
        </p:nvSpPr>
        <p:spPr>
          <a:xfrm rot="20855555">
            <a:off x="9372600" y="2845612"/>
            <a:ext cx="468133" cy="32918"/>
          </a:xfrm>
          <a:prstGeom prst="rect">
            <a:avLst/>
          </a:prstGeom>
          <a:solidFill>
            <a:srgbClr val="1C91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Rectangle 238"/>
          <p:cNvSpPr/>
          <p:nvPr/>
        </p:nvSpPr>
        <p:spPr>
          <a:xfrm rot="21325565">
            <a:off x="9829800" y="2745028"/>
            <a:ext cx="458660" cy="32918"/>
          </a:xfrm>
          <a:prstGeom prst="rect">
            <a:avLst/>
          </a:prstGeom>
          <a:solidFill>
            <a:srgbClr val="1C91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Rectangle 239"/>
          <p:cNvSpPr/>
          <p:nvPr/>
        </p:nvSpPr>
        <p:spPr>
          <a:xfrm rot="1857825">
            <a:off x="10287000" y="2708452"/>
            <a:ext cx="533182" cy="32918"/>
          </a:xfrm>
          <a:prstGeom prst="rect">
            <a:avLst/>
          </a:prstGeom>
          <a:solidFill>
            <a:srgbClr val="1C91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6579108" y="3634740"/>
            <a:ext cx="100584" cy="100584"/>
          </a:xfrm>
          <a:prstGeom prst="ellipse">
            <a:avLst/>
          </a:prstGeom>
          <a:solidFill>
            <a:srgbClr val="1C918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Oval 241"/>
          <p:cNvSpPr/>
          <p:nvPr/>
        </p:nvSpPr>
        <p:spPr>
          <a:xfrm>
            <a:off x="7036308" y="3497579"/>
            <a:ext cx="100584" cy="100584"/>
          </a:xfrm>
          <a:prstGeom prst="ellipse">
            <a:avLst/>
          </a:prstGeom>
          <a:solidFill>
            <a:srgbClr val="1C918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7493508" y="3268979"/>
            <a:ext cx="100584" cy="100584"/>
          </a:xfrm>
          <a:prstGeom prst="ellipse">
            <a:avLst/>
          </a:prstGeom>
          <a:solidFill>
            <a:srgbClr val="1C918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7950708" y="3104388"/>
            <a:ext cx="100584" cy="100584"/>
          </a:xfrm>
          <a:prstGeom prst="ellipse">
            <a:avLst/>
          </a:prstGeom>
          <a:solidFill>
            <a:srgbClr val="1C918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8407908" y="3150108"/>
            <a:ext cx="100584" cy="100584"/>
          </a:xfrm>
          <a:prstGeom prst="ellipse">
            <a:avLst/>
          </a:prstGeom>
          <a:solidFill>
            <a:srgbClr val="1C918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8865108" y="2930651"/>
            <a:ext cx="100584" cy="100584"/>
          </a:xfrm>
          <a:prstGeom prst="ellipse">
            <a:avLst/>
          </a:prstGeom>
          <a:solidFill>
            <a:srgbClr val="1C918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9322308" y="2811779"/>
            <a:ext cx="100584" cy="100584"/>
          </a:xfrm>
          <a:prstGeom prst="ellipse">
            <a:avLst/>
          </a:prstGeom>
          <a:solidFill>
            <a:srgbClr val="1C918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9779508" y="2711196"/>
            <a:ext cx="100584" cy="100584"/>
          </a:xfrm>
          <a:prstGeom prst="ellipse">
            <a:avLst/>
          </a:prstGeom>
          <a:solidFill>
            <a:srgbClr val="1C918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10236708" y="2674620"/>
            <a:ext cx="100584" cy="100584"/>
          </a:xfrm>
          <a:prstGeom prst="ellipse">
            <a:avLst/>
          </a:prstGeom>
          <a:solidFill>
            <a:srgbClr val="1C918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10693908" y="2948939"/>
            <a:ext cx="100584" cy="100584"/>
          </a:xfrm>
          <a:prstGeom prst="ellipse">
            <a:avLst/>
          </a:prstGeom>
          <a:solidFill>
            <a:srgbClr val="1C918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TextBox 250"/>
          <p:cNvSpPr txBox="1"/>
          <p:nvPr/>
        </p:nvSpPr>
        <p:spPr>
          <a:xfrm>
            <a:off x="777240" y="4526280"/>
            <a:ext cx="521208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600" b="1">
                <a:solidFill>
                  <a:srgbClr val="162B4B"/>
                </a:solidFill>
                <a:latin typeface="Aptos"/>
              </a:defRPr>
            </a:pPr>
            <a:r>
              <a:t>Three design improvements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822960" y="4892040"/>
            <a:ext cx="5303520" cy="10515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28313D"/>
                </a:solidFill>
                <a:latin typeface="Aptos"/>
              </a:defRPr>
            </a:pPr>
            <a:r>
              <a:t>• Transparency reduces overplotting.</a:t>
            </a:r>
          </a:p>
          <a:p>
            <a:pPr>
              <a:spcAft>
                <a:spcPts val="900"/>
              </a:spcAft>
              <a:defRPr sz="1200" b="0">
                <a:solidFill>
                  <a:srgbClr val="28313D"/>
                </a:solidFill>
                <a:latin typeface="Aptos"/>
              </a:defRPr>
            </a:pPr>
            <a:r>
              <a:t>• Log y-axis displays a wide earnings range.</a:t>
            </a:r>
          </a:p>
          <a:p>
            <a:pPr>
              <a:spcAft>
                <a:spcPts val="900"/>
              </a:spcAft>
              <a:defRPr sz="1200" b="0">
                <a:solidFill>
                  <a:srgbClr val="28313D"/>
                </a:solidFill>
                <a:latin typeface="Aptos"/>
              </a:defRPr>
            </a:pPr>
            <a:r>
              <a:t>• Weighted means highlight the age-band pattern.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6309360" y="4526280"/>
            <a:ext cx="5029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600" b="1">
                <a:solidFill>
                  <a:srgbClr val="162B4B"/>
                </a:solidFill>
                <a:latin typeface="Aptos"/>
              </a:defRPr>
            </a:pPr>
            <a:r>
              <a:t>R and Python agree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6355080" y="4892040"/>
            <a:ext cx="5029200" cy="868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300" b="0">
                <a:solidFill>
                  <a:srgbClr val="28313D"/>
                </a:solidFill>
                <a:latin typeface="Aptos"/>
              </a:defRPr>
            </a:pPr>
            <a:r>
              <a:t>For ages 25–29, the weighted mean is Rs 303,153.9 in both R and Python. The redesign clarifies the summary, but it can draw attention away from individual variation.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822960" y="5989320"/>
            <a:ext cx="10515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900" b="0">
                <a:solidFill>
                  <a:srgbClr val="5F6B79"/>
                </a:solidFill>
                <a:latin typeface="Aptos"/>
              </a:defRPr>
            </a:pPr>
            <a:r>
              <a:t>Note: comparison panels are schematic illustrations; use the actual committed SVG figures during the presentation if available.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594360" y="6510528"/>
            <a:ext cx="9144000" cy="16459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900" b="0">
                <a:solidFill>
                  <a:srgbClr val="5F6B79"/>
                </a:solidFill>
                <a:latin typeface="Aptos"/>
              </a:defRPr>
            </a:pPr>
            <a:r>
              <a:t>ECO346 • Data Visualization Assignment • Sindh Urban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11064240" y="6492240"/>
            <a:ext cx="502920" cy="182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 sz="900" b="0">
                <a:solidFill>
                  <a:srgbClr val="5F6B79"/>
                </a:solidFill>
                <a:latin typeface="Aptos"/>
              </a:defRPr>
            </a:pPr>
            <a:r>
              <a:t>4/4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