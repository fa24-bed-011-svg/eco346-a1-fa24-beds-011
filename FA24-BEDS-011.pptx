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2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34"/>
        <p:guide pos="284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E1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9966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87DCD4"/>
                </a:solidFill>
                <a:latin typeface="Aptos"/>
              </a:defRPr>
            </a:pPr>
            <a:r>
              <a:t>ECO346  |  DATA VISUALIZATION TECHNIQUES FOR ECONOMISTS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Visualizing Annual Earnings</a:t>
            </a:r>
            <a:br/>
            <a:r>
              <a:t>by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971800"/>
            <a:ext cx="9601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DEE8F3"/>
                </a:solidFill>
                <a:latin typeface="Aptos"/>
              </a:defRPr>
            </a:pPr>
            <a:r>
              <a:t>PSLM sample • Sindh Urban • Ages 15–64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5029200" cy="1233805"/>
          </a:xfrm>
          <a:prstGeom prst="roundRect">
            <a:avLst/>
          </a:prstGeom>
          <a:solidFill>
            <a:srgbClr val="213C60"/>
          </a:solidFill>
          <a:ln>
            <a:solidFill>
              <a:srgbClr val="40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4370832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ACC2D8"/>
                </a:solidFill>
                <a:latin typeface="Aptos"/>
              </a:defRPr>
            </a:pPr>
            <a:r>
              <a:t>REGISTRATION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663440"/>
            <a:ext cx="45720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FA24-BEDS-011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6144768"/>
            <a:ext cx="103327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DEE8F3"/>
                </a:solidFill>
                <a:latin typeface="Aptos"/>
              </a:defRPr>
            </a:pPr>
            <a:r>
              <a:t>Variant: Sindh Urban  •  Weighted analysis using household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DEE8F3"/>
                </a:solidFill>
                <a:latin typeface="Aptos"/>
              </a:defRPr>
            </a:pPr>
            <a:r>
              <a:t>1/4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55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1C918C"/>
                </a:solidFill>
                <a:latin typeface="Aptos"/>
              </a:defRPr>
            </a:pPr>
            <a:r>
              <a:rPr sz="1200"/>
              <a:t>Q2 • EARNINGS DISTRIBUTION</a:t>
            </a:r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2B4B"/>
                </a:solidFill>
                <a:latin typeface="Aptos"/>
              </a:defRPr>
            </a:pPr>
            <a:r>
              <a:t>Annual earnings are strongly spread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5F6B79"/>
                </a:solidFill>
                <a:latin typeface="Aptos"/>
              </a:defRPr>
            </a:pPr>
            <a:r>
              <a:t>Positive annual earners • Sindh Urban • Ages 15–64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606040" cy="1188720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56231"/>
            <a:ext cx="22768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F6B79"/>
                </a:solidFill>
                <a:latin typeface="Aptos"/>
              </a:defRPr>
            </a:pPr>
            <a:r>
              <a:t>VALID EARNERS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21408"/>
            <a:ext cx="2276856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300" b="1">
                <a:solidFill>
                  <a:srgbClr val="3469AA"/>
                </a:solidFill>
                <a:latin typeface="Aptos"/>
              </a:defRPr>
            </a:pPr>
            <a:r>
              <a:t>2,644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606040"/>
            <a:ext cx="2276856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After sample and missing-value 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350770" cy="1188720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856231"/>
            <a:ext cx="22768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F6B79"/>
                </a:solidFill>
                <a:latin typeface="Aptos"/>
              </a:defRPr>
            </a:pPr>
            <a:r>
              <a:t>WEIGHTED 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121408"/>
            <a:ext cx="2276856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300" b="1">
                <a:solidFill>
                  <a:srgbClr val="1C918C"/>
                </a:solidFill>
                <a:latin typeface="Aptos"/>
              </a:defRPr>
            </a:pPr>
            <a:r>
              <a:t>Rs 264,000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84245"/>
            <a:ext cx="2606040" cy="1188720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721861"/>
            <a:ext cx="22768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F6B79"/>
                </a:solidFill>
                <a:latin typeface="Aptos"/>
              </a:defRPr>
            </a:pPr>
            <a:r>
              <a:t>WEIGHTED P90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087" y="4087368"/>
            <a:ext cx="2276856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300" b="1">
                <a:solidFill>
                  <a:srgbClr val="3469AA"/>
                </a:solidFill>
                <a:latin typeface="Aptos"/>
              </a:defRPr>
            </a:pPr>
            <a:r>
              <a:t>Rs 696,000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520440"/>
            <a:ext cx="2405380" cy="1130935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3667251"/>
            <a:ext cx="218541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F6B79"/>
                </a:solidFill>
                <a:latin typeface="Aptos"/>
              </a:defRPr>
            </a:pPr>
            <a:r>
              <a:t>P90 / P10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3917823"/>
            <a:ext cx="2185416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300" b="1">
                <a:solidFill>
                  <a:srgbClr val="E1A83E"/>
                </a:solidFill>
                <a:latin typeface="Aptos"/>
              </a:defRPr>
            </a:pPr>
            <a:r>
              <a:t>5.8×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4389120"/>
            <a:ext cx="2185416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P10 = Rs 120,000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52745"/>
            <a:ext cx="10515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28313D"/>
                </a:solidFill>
                <a:latin typeface="Aptos"/>
              </a:defRPr>
            </a:pPr>
            <a:r>
              <a:t>Key finding: the 90th-percentile earner receives about 5.8 times the 10th-percentile earner. The weighted median (Rs 264,000) is slightly above the unweighted median (Rs 252,000).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053328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F6B79"/>
                </a:solidFill>
                <a:latin typeface="Aptos"/>
              </a:defRPr>
            </a:pPr>
            <a:r>
              <a:t>Source: PSLM subset. Weighted quantiles use household weight (hhweight).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ECO346 • Data Visualization Assignment • Sindh Urban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6B79"/>
                </a:solidFill>
                <a:latin typeface="Aptos"/>
              </a:defRPr>
            </a:pPr>
            <a:r>
              <a:t>2/4</a:t>
            </a:r>
          </a:p>
        </p:txBody>
      </p:sp>
      <p:pic>
        <p:nvPicPr>
          <p:cNvPr id="20" name="Picture 19" descr="q2_weighted_histogram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0575" y="1249680"/>
            <a:ext cx="6172200" cy="411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55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1C918C"/>
                </a:solidFill>
                <a:latin typeface="Aptos"/>
              </a:defRPr>
            </a:pPr>
            <a:r>
              <a:rPr sz="1200"/>
              <a:t>Q3 • AGE AND EARNINGS</a:t>
            </a:r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2B4B"/>
                </a:solidFill>
                <a:latin typeface="Aptos"/>
              </a:defRPr>
            </a:pPr>
            <a:r>
              <a:t>Weighted mean earnings generally rise with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5F6B79"/>
                </a:solidFill>
                <a:latin typeface="Aptos"/>
              </a:defRPr>
            </a:pPr>
            <a:r>
              <a:t>Band means use household weights; age bands are five years 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52880"/>
            <a:ext cx="5669280" cy="3524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62B4B"/>
                </a:solidFill>
                <a:latin typeface="Aptos"/>
              </a:defRPr>
            </a:pPr>
            <a:r>
              <a:t>Weighted mean by age band (Rs)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651760"/>
            <a:ext cx="4617720" cy="7315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3273552"/>
            <a:ext cx="4617720" cy="7315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4517136"/>
            <a:ext cx="4617720" cy="7315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654172">
            <a:off x="1280160" y="4409588"/>
            <a:ext cx="512017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9400642">
            <a:off x="1772919" y="4270487"/>
            <a:ext cx="614234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486483">
            <a:off x="2265680" y="3903784"/>
            <a:ext cx="603214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600887">
            <a:off x="2758440" y="3555854"/>
            <a:ext cx="500384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9278664">
            <a:off x="3251200" y="3642872"/>
            <a:ext cx="631297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470282">
            <a:off x="3743959" y="3248253"/>
            <a:ext cx="497407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19044528">
            <a:off x="4236720" y="3316086"/>
            <a:ext cx="669328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1230564">
            <a:off x="4729480" y="2863110"/>
            <a:ext cx="495619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995948">
            <a:off x="5222239" y="2809951"/>
            <a:ext cx="765523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16151" y="4359296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08911" y="4220195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01672" y="3853492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94432" y="3505562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87192" y="3592580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79951" y="3197961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72711" y="3265794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5472" y="2812818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58231" y="2759659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50992" y="3345503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56048"/>
            <a:ext cx="5303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15–19     25–29     35–39     45–49     55–59     60–64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15508"/>
            <a:ext cx="5303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C918C"/>
                </a:solidFill>
                <a:latin typeface="Aptos"/>
              </a:defRPr>
            </a:pPr>
            <a:r>
              <a:t>Peak band: ages 55–59, with weighted mean annual earnings of Rs 542,400.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173736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62B4B"/>
                </a:solidFill>
                <a:latin typeface="Aptos"/>
              </a:defRPr>
            </a:pPr>
            <a:r>
              <a:t>Selected age-band results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537960" y="2240280"/>
          <a:ext cx="50749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822960"/>
                <a:gridCol w="2834640"/>
              </a:tblGrid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Age band</a:t>
                      </a:r>
                    </a:p>
                  </a:txBody>
                  <a:tcPr marL="73152" marR="45720" marT="36576" marB="36576">
                    <a:solidFill>
                      <a:srgbClr val="162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 marL="73152" marR="45720" marT="36576" marB="36576">
                    <a:solidFill>
                      <a:srgbClr val="162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Weighted mean</a:t>
                      </a:r>
                    </a:p>
                  </a:txBody>
                  <a:tcPr marL="73152" marR="45720" marT="36576" marB="36576">
                    <a:solidFill>
                      <a:srgbClr val="162B4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25–29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398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Rs 303,153.9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45–49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250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Rs 431,696.7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55–59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157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Rs 542,400.0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60–64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72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Rs 414,262.5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83680" y="4800600"/>
            <a:ext cx="4937760" cy="10763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8313D"/>
                </a:solidFill>
                <a:latin typeface="Aptos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Interpretation: earnings do not increase smoothly at every age band. The pattern is consistent with experience-related earnings growth, but the cross-sectional data cannot prove that individuals’ earnings rise as they age.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ECO346 • Data Visualization Assignment • Sindh Urban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6B79"/>
                </a:solidFill>
                <a:latin typeface="Aptos"/>
              </a:defRPr>
            </a:pPr>
            <a:r>
              <a:t>3/4</a:t>
            </a:r>
          </a:p>
        </p:txBody>
      </p:sp>
      <p:pic>
        <p:nvPicPr>
          <p:cNvPr id="7" name="Picture 6" descr="q3_age_earnings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880" y="1897380"/>
            <a:ext cx="6172200" cy="3778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55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1C918C"/>
                </a:solidFill>
                <a:latin typeface="Aptos"/>
              </a:defRPr>
            </a:pPr>
            <a:r>
              <a:rPr sz="1200"/>
              <a:t>Q4 • DESIGN AND REPRODUCIBILITY</a:t>
            </a:r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2B4B"/>
                </a:solidFill>
                <a:latin typeface="Aptos"/>
              </a:defRPr>
            </a:pPr>
            <a:r>
              <a:t>Redesign makes the age pattern easier to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47672"/>
            <a:ext cx="48463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5F6B79"/>
                </a:solidFill>
                <a:latin typeface="Aptos"/>
              </a:defRPr>
            </a:pPr>
            <a:r>
              <a:t>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21992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F6B79"/>
                </a:solidFill>
                <a:latin typeface="Aptos"/>
              </a:defRPr>
            </a:pPr>
            <a:r>
              <a:t>Raw points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57800" cy="2468880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19088" y="1947672"/>
            <a:ext cx="48463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C918C"/>
                </a:solidFill>
                <a:latin typeface="Aptos"/>
              </a:defRPr>
            </a:pPr>
            <a:r>
              <a:t>REDESIGN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221992"/>
            <a:ext cx="4800600" cy="245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F6B79"/>
                </a:solidFill>
                <a:latin typeface="Aptos"/>
              </a:defRPr>
            </a:pPr>
            <a:r>
              <a:t>ansparency + log scale + weighted means</a:t>
            </a:r>
          </a:p>
        </p:txBody>
      </p:sp>
      <p:sp>
        <p:nvSpPr>
          <p:cNvPr id="12" name="Oval 11"/>
          <p:cNvSpPr/>
          <p:nvPr/>
        </p:nvSpPr>
        <p:spPr>
          <a:xfrm>
            <a:off x="5146319" y="288297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99523" y="371606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9800" y="347128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59446" y="370008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29152" y="356109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60605" y="354774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2222" y="375820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73815" y="344365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80444" y="326894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85038" y="375879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04660" y="327814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8017" y="329640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53939" y="343615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99126" y="347656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49363" y="329838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83142" y="374346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05877" y="329706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33384" y="345357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67704" y="365035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768241" y="362736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52991" y="361941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77479" y="374748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6342" y="367499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52872" y="317766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457435" y="356997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65880" y="361708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79676" y="331513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29794" y="373422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7859" y="317435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710438" y="357959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29110" y="311884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642826" y="307265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717184" y="329663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13228" y="360965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65866" y="345039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070603" y="299636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603611" y="295038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397956" y="307178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350368" y="349823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370487" y="342129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835112" y="375481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69175" y="365938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185756" y="287627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7575" y="373888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354386" y="367159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420824" y="319764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05551" y="355778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037709" y="337367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511621" y="324578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43407" y="299344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73043" y="345630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096935" y="311149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854731" y="360602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296518" y="355432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452894" y="331002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49291" y="318449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450978" y="349433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465118" y="345405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741145" y="356926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266957" y="371798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03985" y="339082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024160" y="348561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090762" y="348397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211709" y="379145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667328" y="329538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602233" y="336470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881628" y="343206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743915" y="356362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872700" y="374055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126735" y="339751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078770" y="335213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476147" y="340444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308021" y="326586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351148" y="338903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868400" y="333444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476805" y="320673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98852" y="356988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406940" y="358461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327833" y="322750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504835" y="355667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859163" y="325518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122590" y="340965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116502" y="363811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363357" y="369385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154551" y="331039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234439" y="371636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054533" y="371174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522116" y="346408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844955" y="355581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811359" y="356765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407706" y="316343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53299" y="344214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207773" y="358635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623598" y="337721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369178" y="345132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751282" y="335537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286618" y="374891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102435" y="316919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28150" y="329462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087262" y="362066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46571" y="353641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589959" y="343307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082382" y="330539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539155" y="321662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679038" y="325225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636953" y="354537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567048" y="374933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838887" y="360499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890870" y="358411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764782" y="337887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426213" y="332401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176046" y="334405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909144" y="296593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949392" y="324267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980203" y="277179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122733" y="355023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041253" y="302565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716818" y="356689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815692" y="310916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959935" y="356381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379285" y="366933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66825" y="348019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262816" y="320427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413495" y="355938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964999" y="335329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554230" y="359855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257351" y="321634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917222" y="319947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358139" y="339590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291221" y="305150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979553" y="307663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485343" y="366599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340934" y="336754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269025" y="367106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692435" y="356980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949858" y="300425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9746209" y="318612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773060" y="361988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9264380" y="365847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199759" y="334500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993459" y="362235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43934" y="353139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196872" y="343825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39006" y="338172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933622" y="321802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944054" y="357302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8109435" y="317300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753579" y="356344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8770701" y="335621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117090" y="345939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895988" y="368250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115362" y="323276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616882" y="356604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9657562" y="298230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9557241" y="361936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706371" y="282142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039490" y="337988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897023" y="367317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138048" y="310640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0870457" y="311390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8854048" y="352713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9130864" y="302178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464949" y="306070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431665" y="337521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9850184" y="364745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250412" y="355453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521710" y="367521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537390" y="359742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954241" y="370328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201939" y="306700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9114771" y="331183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0149833" y="317462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168793" y="337721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139712" y="338426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857382" y="311746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413472" y="320384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6908236" y="358185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9573167" y="324481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0305269" y="352601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0177958" y="303914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184879" y="364577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9178082" y="302683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9315879" y="339824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32178" y="318158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901976" y="335209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9223331" y="305104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0160784" y="300484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742878" y="340898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63477" y="309512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0846147" y="285283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115641" y="349915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157288" y="359069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804721" y="307323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0015376" y="362284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7659255" y="352639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544394" y="329592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7259998" y="347105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7656975" y="368498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220539" y="301031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0049974" y="310207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7228831" y="346867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420864" y="315088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559886" y="367101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0737023" y="346065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80258" y="333534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0064816" y="342679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956468" y="354100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710651" y="320615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365467" y="331779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241243" y="329236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7326555" y="332352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812535" y="368139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423307" y="302680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674691" y="362245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855083" y="309437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372668" y="300861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824124" y="311649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724869" y="357216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7888117" y="343258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8903741" y="307959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 rot="20598045">
            <a:off x="6629400" y="3668572"/>
            <a:ext cx="477330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 rot="20006097">
            <a:off x="7086600" y="3531412"/>
            <a:ext cx="511165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 rot="20412067">
            <a:off x="7543800" y="3302812"/>
            <a:ext cx="485924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 rot="342636">
            <a:off x="8001000" y="3138220"/>
            <a:ext cx="459480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 rot="20061540">
            <a:off x="8458200" y="3183940"/>
            <a:ext cx="507141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 rot="20725547">
            <a:off x="8915400" y="2964484"/>
            <a:ext cx="472400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 rot="20855555">
            <a:off x="9372600" y="2845612"/>
            <a:ext cx="468133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 rot="21325565">
            <a:off x="9829800" y="2745028"/>
            <a:ext cx="458660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 rot="1857825">
            <a:off x="10287000" y="2708452"/>
            <a:ext cx="533182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579108" y="3634740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036308" y="3497579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493508" y="3268979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50708" y="3104388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07908" y="3150108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5108" y="2930651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322308" y="2811779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79508" y="2711196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236708" y="2674620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93908" y="2948939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ECO346 • Data Visualization Assignment • Sindh Urban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6B79"/>
                </a:solidFill>
                <a:latin typeface="Aptos"/>
              </a:defRPr>
            </a:pPr>
            <a:r>
              <a:t>4/4</a:t>
            </a:r>
          </a:p>
        </p:txBody>
      </p:sp>
      <p:pic>
        <p:nvPicPr>
          <p:cNvPr id="260" name="Picture 259" descr="default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56030"/>
            <a:ext cx="5486400" cy="3429000"/>
          </a:xfrm>
          <a:prstGeom prst="rect">
            <a:avLst/>
          </a:prstGeom>
        </p:spPr>
      </p:pic>
      <p:pic>
        <p:nvPicPr>
          <p:cNvPr id="261" name="Picture 260" descr="redesig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7695" y="1141730"/>
            <a:ext cx="6330315" cy="3616960"/>
          </a:xfrm>
          <a:prstGeom prst="rect">
            <a:avLst/>
          </a:prstGeom>
        </p:spPr>
      </p:pic>
      <p:sp>
        <p:nvSpPr>
          <p:cNvPr id="262" name="Text Box 261"/>
          <p:cNvSpPr txBox="1"/>
          <p:nvPr/>
        </p:nvSpPr>
        <p:spPr>
          <a:xfrm>
            <a:off x="273368" y="4758373"/>
            <a:ext cx="5080000" cy="161671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en-US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Default Graph</a:t>
            </a:r>
            <a:endParaRPr lang="en-US" altLang="en-US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Raw data points show individual observations.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Points overlap, making the pattern difficult to see.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Age-wise differences are less clear.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4" name="Text Box 263"/>
          <p:cNvSpPr txBox="1"/>
          <p:nvPr/>
        </p:nvSpPr>
        <p:spPr>
          <a:xfrm>
            <a:off x="5609590" y="4911090"/>
            <a:ext cx="6217285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Redesign graph</a:t>
            </a:r>
            <a:endParaRPr lang="en-US" altLang="en-US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ransparency reduces the visual effect of overlapping points.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Log scale makes the earnings distribution easier to compare.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Weighted mean markers highlight differences across age groups</a:t>
            </a:r>
            <a:r>
              <a:rPr lang="en-US" altLang="en-US" sz="1600"/>
              <a:t>.</a:t>
            </a:r>
            <a:endParaRPr lang="en-US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2"/>
          <p:cNvSpPr txBox="1"/>
          <p:nvPr/>
        </p:nvSpPr>
        <p:spPr>
          <a:xfrm>
            <a:off x="608965" y="416052"/>
            <a:ext cx="10972800" cy="2755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1C918C"/>
                </a:solidFill>
                <a:latin typeface="Aptos"/>
              </a:defRPr>
            </a:pPr>
            <a:r>
              <a:rPr sz="1200"/>
              <a:t>Q</a:t>
            </a:r>
            <a:r>
              <a:rPr lang="en-US" sz="1200"/>
              <a:t>5 </a:t>
            </a:r>
            <a:r>
              <a:rPr sz="1200"/>
              <a:t>• </a:t>
            </a:r>
            <a:r>
              <a:rPr lang="en-US" altLang="en-US" sz="1200"/>
              <a:t>Reproducibility and Validation</a:t>
            </a:r>
            <a:endParaRPr lang="en-US" altLang="en-US" sz="1200"/>
          </a:p>
        </p:txBody>
      </p:sp>
      <p:pic>
        <p:nvPicPr>
          <p:cNvPr id="6" name="Picture 5" descr="q3_pyth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937895"/>
            <a:ext cx="6172200" cy="3905250"/>
          </a:xfrm>
          <a:prstGeom prst="rect">
            <a:avLst/>
          </a:prstGeom>
        </p:spPr>
      </p:pic>
      <p:pic>
        <p:nvPicPr>
          <p:cNvPr id="8" name="Picture 7" descr="q3_age_earnings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3945" y="887730"/>
            <a:ext cx="5943600" cy="371919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158240" y="4843145"/>
            <a:ext cx="4151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endParaRPr lang="en-US" b="1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067675" y="4697095"/>
            <a:ext cx="2406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endParaRPr lang="en-US" b="1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95935" y="6474460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rPr>
                <a:sym typeface="+mn-ea"/>
              </a:rPr>
              <a:t>ECO346 • Data Visualization Assignment • Sindh Urban</a:t>
            </a:r>
            <a:endParaRPr lang="en-US"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17525" y="5089525"/>
            <a:ext cx="113715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Reproducibility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: Obtaining the same results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again using the same data and code.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 Validation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: Checking the correctness of calculations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by comparing the results.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6043295" y="5090160"/>
            <a:ext cx="58458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Cross-check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: The results from R and Python were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compared.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Finding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: The weighted mean annual earnings for the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25–29 age group were Rs. 303,153.9.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2414</Words>
  <Application>WPS Presentation</Application>
  <PresentationFormat>On-screen Show (4:3)</PresentationFormat>
  <Paragraphs>145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Arial</vt:lpstr>
      <vt:lpstr>Aptos</vt:lpstr>
      <vt:lpstr>Segoe UI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Tayyaba Noman</cp:lastModifiedBy>
  <cp:revision>4</cp:revision>
  <dcterms:created xsi:type="dcterms:W3CDTF">2013-01-27T09:14:00Z</dcterms:created>
  <dcterms:modified xsi:type="dcterms:W3CDTF">2026-10-24T17:26:00Z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D0C0EE33C45A4E24B7CE5E20D1F1139C_12</vt:lpwstr>
  </property>
</Properties>
</file>