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0.svg" ContentType="image/svg+xml"/>
  <Override PartName="/ppt/media/image16.svg" ContentType="image/svg+xml"/>
  <Override PartName="/ppt/media/image18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embeddedFontLs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286375"/>
            <a:ext cx="3740199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8399" y="5286375"/>
            <a:ext cx="7004000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7203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ECO346  |  DATA VISUALIZATION TECHNIQUES FOR ECONOMISTS</a:t>
            </a:r>
            <a:endParaRPr sz="12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6650" y="609600"/>
            <a:ext cx="57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1/5</a:t>
            </a:r>
            <a:endParaRPr sz="1200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000125"/>
            <a:ext cx="10101262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Visualizing Annual Earnings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
</a:t>
            </a:r>
            <a:r>
              <a:rPr sz="420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 by Age</a:t>
            </a:r>
            <a:endParaRPr sz="4200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379166"/>
            <a:ext cx="11582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PSLM sample • Sindh Urban • Ages 15–64</a:t>
            </a:r>
            <a:endParaRPr sz="18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725" y="5524500"/>
            <a:ext cx="4079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REGISTRATION NUMBER</a:t>
            </a:r>
            <a:endParaRPr sz="97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" y="5734050"/>
            <a:ext cx="4079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FA24-BEDS-011</a:t>
            </a:r>
            <a:endParaRPr sz="1650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6524" y="5524500"/>
            <a:ext cx="73754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VARIANT SPECIFICATION</a:t>
            </a:r>
            <a:endParaRPr sz="97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6524" y="5734050"/>
            <a:ext cx="737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Sindh Urban  •  Weighted analysis using household weights</a:t>
            </a:r>
            <a:endParaRPr sz="15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810000" y="1209675"/>
            <a:ext cx="79248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0480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399407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399407"/>
            <a:ext cx="38100" cy="6953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3379589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379589"/>
            <a:ext cx="38100" cy="6953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359771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9106" y="5080398"/>
            <a:ext cx="3071812" cy="956071"/>
          </a:xfrm>
          <a:prstGeom prst="roundRect">
            <a:avLst>
              <a:gd name="adj" fmla="val 937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925" y="2209800"/>
            <a:ext cx="7600950" cy="304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50482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Q2 • EARNINGS DISTRIBUTION</a:t>
            </a:r>
            <a:endParaRPr sz="975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2/5</a:t>
            </a:r>
            <a:endParaRPr sz="105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6343650"/>
            <a:ext cx="48220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subset. Weighted quantiles use household weight (hhweight).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90550"/>
            <a:ext cx="6500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Annual earnings are strongly spread out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904875"/>
            <a:ext cx="6191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Positive annual earners • Sindh Urban • Ages 15–64</a:t>
            </a:r>
            <a:endParaRPr sz="97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1323975"/>
            <a:ext cx="28384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VALID EARNERS </a:t>
            </a:r>
            <a:r>
              <a:rPr sz="8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After sample and missing-value filters</a:t>
            </a:r>
            <a:endParaRPr sz="8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2513707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F4444"/>
                </a:solidFill>
                <a:latin typeface="Times New Roman" panose="02020603050405020304" charset="0"/>
                <a:cs typeface="Times New Roman" panose="02020603050405020304" charset="0"/>
              </a:rPr>
              <a:t>WEIGHTED MEDIAN</a:t>
            </a:r>
            <a:endParaRPr sz="825" b="1" i="0" u="none">
              <a:solidFill>
                <a:srgbClr val="EF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600" y="3493889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Times New Roman" panose="02020603050405020304" charset="0"/>
                <a:cs typeface="Times New Roman" panose="02020603050405020304" charset="0"/>
              </a:rPr>
              <a:t>WEIGHTED P90</a:t>
            </a:r>
            <a:endParaRPr sz="825" b="1" i="0" u="none">
              <a:solidFill>
                <a:srgbClr val="16A3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71925" y="1371600"/>
            <a:ext cx="82200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Most Earners Receive Less Than the Highest-Earning Group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71925" y="5867400"/>
            <a:ext cx="82200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| Sindh urban earners, ages 15–64, positive earnings | Weighted by hhweight | 2 earners outside histogram range</a:t>
            </a:r>
            <a:endParaRPr sz="75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9125" y="1524000"/>
            <a:ext cx="34051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2,644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700" y="2704207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264,000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700" y="3684389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696,000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9125" y="4778871"/>
            <a:ext cx="11334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P10 = Rs 120,000</a:t>
            </a:r>
            <a:endParaRPr sz="82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9125" y="5263754"/>
            <a:ext cx="2867024" cy="706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sz="1400" b="1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Key finding:</a:t>
            </a:r>
            <a:r>
              <a:rPr sz="1400" b="0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the 90th-percentile earner receives about 5.8 times the 10th-percentile earner. The weighted median (Rs 264,000) is slightly above the unweighted median (Rs 252,000).</a:t>
            </a:r>
            <a:endParaRPr lang="en-US" sz="1400" b="0" i="0" u="none">
              <a:solidFill>
                <a:srgbClr val="334155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9125" y="4578846"/>
            <a:ext cx="1095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P90 / P10 RATIO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7500" y="4483596"/>
            <a:ext cx="7715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5.8×</a:t>
            </a:r>
            <a:endParaRPr sz="165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000500" y="1209675"/>
            <a:ext cx="77343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238500" cy="866775"/>
          </a:xfrm>
          <a:prstGeom prst="roundRect">
            <a:avLst>
              <a:gd name="adj" fmla="val 879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165228"/>
            <a:ext cx="3190876" cy="978396"/>
          </a:xfrm>
          <a:prstGeom prst="roundRect">
            <a:avLst>
              <a:gd name="adj" fmla="val 79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2425" y="2152650"/>
            <a:ext cx="7410450" cy="3048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37205"/>
          <a:ext cx="3238500" cy="1902410"/>
        </p:xfrm>
        <a:graphic>
          <a:graphicData uri="http://schemas.openxmlformats.org/drawingml/2006/table">
            <a:tbl>
              <a:tblPr/>
              <a:tblGrid>
                <a:gridCol w="1090295"/>
                <a:gridCol w="503555"/>
                <a:gridCol w="1644650"/>
              </a:tblGrid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Age band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Weighted mean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25–29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398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303,153.9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45–49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250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431,696.7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55–59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157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542,400.0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60–64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72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414,262.5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1000"/>
            <a:ext cx="60388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Q3 • AGE AND EARNINGS</a:t>
            </a:r>
            <a:endParaRPr sz="975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3/5</a:t>
            </a:r>
            <a:endParaRPr sz="105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343650"/>
            <a:ext cx="260746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subset microdata.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90550"/>
            <a:ext cx="78009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generally rise with age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904875"/>
            <a:ext cx="742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Band means use household weights; age bands are five years wide</a:t>
            </a:r>
            <a:endParaRPr sz="97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1323975"/>
            <a:ext cx="30289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Times New Roman" panose="02020603050405020304" charset="0"/>
                <a:cs typeface="Times New Roman" panose="02020603050405020304" charset="0"/>
              </a:rPr>
              <a:t>PEAK EARNINGS AGE BAND</a:t>
            </a:r>
            <a:endParaRPr sz="825" b="1" i="0" u="none">
              <a:solidFill>
                <a:srgbClr val="1D4ED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62425" y="1371600"/>
            <a:ext cx="8029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Peak at Ages 55–59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62425" y="5753100"/>
            <a:ext cx="7505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PSLM 2019–20 | Sindh urban earners, ages 15–64, with positive annual earnings | Weighted by household weight | Hollow markers indicate age bands with fewer than 30 earners</a:t>
            </a:r>
            <a:endParaRPr sz="75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125" y="1543050"/>
            <a:ext cx="3643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Ages 55–59</a:t>
            </a:r>
            <a:endParaRPr sz="15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125" y="1790700"/>
            <a:ext cx="3643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charset="0"/>
                <a:cs typeface="Times New Roman" panose="02020603050405020304" charset="0"/>
              </a:rPr>
              <a:t>Weighted Mean: Rs 542,400</a:t>
            </a:r>
            <a:endParaRPr sz="1050" b="1" i="0" u="none">
              <a:solidFill>
                <a:srgbClr val="2563E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2846933"/>
            <a:ext cx="4048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SELECTED AGE-BAND RESULTS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7219" y="5193804"/>
            <a:ext cx="3033712" cy="853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sz="1400" b="1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Interpretation:</a:t>
            </a:r>
            <a:r>
              <a:rPr sz="1400" b="0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earnings do not increase smoothly at every age band. The pattern is consistent with experience-related earnings growth, but the cross-sectional data cannot prove that individuals' earnings rise as they age.</a:t>
            </a:r>
            <a:endParaRPr lang="en-US" sz="1400" b="0" i="0" u="none">
              <a:solidFill>
                <a:srgbClr val="334155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038225"/>
            <a:ext cx="5514975" cy="5105400"/>
          </a:xfrm>
          <a:prstGeom prst="roundRect">
            <a:avLst>
              <a:gd name="adj" fmla="val 14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00775" y="1038225"/>
            <a:ext cx="5534025" cy="5105400"/>
          </a:xfrm>
          <a:prstGeom prst="roundRect">
            <a:avLst>
              <a:gd name="adj" fmla="val 1492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67250" y="1247775"/>
            <a:ext cx="1104900" cy="17145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696450" y="1257300"/>
            <a:ext cx="1828800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1543050"/>
            <a:ext cx="5114925" cy="2095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552575"/>
            <a:ext cx="5114925" cy="2095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47825"/>
            <a:ext cx="4905375" cy="1885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1657350"/>
            <a:ext cx="4905375" cy="1885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81000"/>
            <a:ext cx="5800725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Q4 • DESIGN AND REPRODUCIBILITY</a:t>
            </a:r>
            <a:endParaRPr sz="108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06200" y="547687"/>
            <a:ext cx="194945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4/5</a:t>
            </a:r>
            <a:endParaRPr sz="120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343650"/>
            <a:ext cx="173418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0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Side-by-Side Makeover Comparison</a:t>
            </a:r>
            <a:endParaRPr sz="930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5400" y="6343650"/>
            <a:ext cx="284226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93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590550"/>
            <a:ext cx="496443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Redesign makes the age pattern easier to read</a:t>
            </a:r>
            <a:endParaRPr sz="20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225" y="1238250"/>
            <a:ext cx="150241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DEFAULT GRAPH</a:t>
            </a:r>
            <a:endParaRPr sz="1400" b="1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3450" y="1266825"/>
            <a:ext cx="1047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RAW POINTS ONLY</a:t>
            </a:r>
            <a:endParaRPr sz="930" b="1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" y="3788568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1019" y="4943475"/>
            <a:ext cx="425640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Raw data points:</a:t>
            </a:r>
            <a:r>
              <a:rPr sz="140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 Individual observations overlap heavily.</a:t>
            </a:r>
            <a:endParaRPr sz="140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3974306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1018" y="5281771"/>
            <a:ext cx="4678680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Overplotting:</a:t>
            </a:r>
            <a:r>
              <a:rPr sz="140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 High density makes central trends difficult to see.</a:t>
            </a:r>
            <a:endParaRPr sz="140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2000" y="4160043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1018" y="5644039"/>
            <a:ext cx="419290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Unclear comparison:</a:t>
            </a:r>
            <a:r>
              <a:rPr sz="140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 Age-wise differences are obscured.</a:t>
            </a:r>
            <a:endParaRPr sz="140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10325" y="1247775"/>
            <a:ext cx="161544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REDESIGN GRAPH</a:t>
            </a:r>
            <a:endParaRPr sz="1400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72650" y="1276350"/>
            <a:ext cx="1771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LOG SCALE + WEIGHTED MEANS</a:t>
            </a:r>
            <a:endParaRPr sz="93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5100" y="3798093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2681" y="4848225"/>
            <a:ext cx="434530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Transparency:</a:t>
            </a:r>
            <a:r>
              <a:rPr sz="140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 Reduces visual effect of overlapping points.</a:t>
            </a:r>
            <a:endParaRPr sz="140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5100" y="3983831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2681" y="5180647"/>
            <a:ext cx="446468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Log scale:</a:t>
            </a:r>
            <a:r>
              <a:rPr sz="140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 Makes the earnings distribution easier to compare.</a:t>
            </a:r>
            <a:endParaRPr sz="140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15100" y="4169568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00775" y="5558314"/>
            <a:ext cx="5622131" cy="37401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markers:</a:t>
            </a:r>
            <a:r>
              <a:rPr sz="140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 Highlight key structural differences across age groups.</a:t>
            </a:r>
            <a:endParaRPr sz="140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3" name="Picture 32" descr="defaul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825" y="1544955"/>
            <a:ext cx="5462905" cy="3197860"/>
          </a:xfrm>
          <a:prstGeom prst="rect">
            <a:avLst/>
          </a:prstGeom>
        </p:spPr>
      </p:pic>
      <p:pic>
        <p:nvPicPr>
          <p:cNvPr id="34" name="Picture 33" descr="redesig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2840" y="1552575"/>
            <a:ext cx="5521960" cy="3202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5486400"/>
            <a:ext cx="11277600" cy="695325"/>
          </a:xfrm>
          <a:prstGeom prst="roundRect">
            <a:avLst>
              <a:gd name="adj" fmla="val 82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03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5486400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10175" y="1204912"/>
            <a:ext cx="609600" cy="152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82275" y="1204912"/>
            <a:ext cx="990600" cy="1524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219325"/>
            <a:ext cx="5200650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2219325"/>
            <a:ext cx="5200650" cy="2000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305050"/>
            <a:ext cx="5029200" cy="1828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2305050"/>
            <a:ext cx="50292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81000"/>
            <a:ext cx="6172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Q5 • REPRODUCIBILITY AND VALIDATION</a:t>
            </a:r>
            <a:endParaRPr sz="120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506200" y="547687"/>
            <a:ext cx="22733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5/5</a:t>
            </a:r>
            <a:endParaRPr sz="140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6343650"/>
            <a:ext cx="326644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PSLM 2019–20 Microdata Analysis • </a:t>
            </a:r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Sindh Urban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15400" y="6343650"/>
            <a:ext cx="3152140" cy="158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103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590550"/>
            <a:ext cx="6443345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Cross-Validation between R and Python Pipelines</a:t>
            </a:r>
            <a:endParaRPr sz="24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5619750"/>
            <a:ext cx="361310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Reproducibility: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Obtaining identical results using the same dataset and source code.</a:t>
            </a:r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050" y="5619750"/>
            <a:ext cx="361310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Validation: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Verifying calculation correctness by cross-checking execution across dual environments.</a:t>
            </a:r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26300" y="5619750"/>
            <a:ext cx="3613249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Cross-check Result: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Ages 25–29 weighted mean annual earnings exactly match at </a:t>
            </a:r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Rs. 303,153.9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across both R and Python.</a:t>
            </a:r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9125" y="1200150"/>
            <a:ext cx="158115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 Pipeline Output</a:t>
            </a:r>
            <a:endParaRPr sz="16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10175" y="1223962"/>
            <a:ext cx="59055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R / ggplot2</a:t>
            </a:r>
            <a:endParaRPr sz="95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72225" y="1200150"/>
            <a:ext cx="205549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Python Pipeline Output</a:t>
            </a:r>
            <a:endParaRPr sz="16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39425" y="1223962"/>
            <a:ext cx="97155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Python / matplotlib</a:t>
            </a:r>
            <a:endParaRPr sz="95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8" name="Picture 27" descr="q3_age_earnings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206" y="1546860"/>
            <a:ext cx="5373212" cy="3626802"/>
          </a:xfrm>
          <a:prstGeom prst="rect">
            <a:avLst/>
          </a:prstGeom>
        </p:spPr>
      </p:pic>
      <p:pic>
        <p:nvPicPr>
          <p:cNvPr id="29" name="Graphic 2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5062" y="1547174"/>
            <a:ext cx="5524498" cy="3799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2990</Words>
  <Application>WPS Presentation</Application>
  <PresentationFormat>Widescreen</PresentationFormat>
  <Paragraphs>174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Arial</vt:lpstr>
      <vt:lpstr>Times New Roman</vt:lpstr>
      <vt:lpstr>Times New Roman</vt:lpstr>
      <vt:lpstr>Inter</vt:lpstr>
      <vt:lpstr>Segoe Print</vt:lpstr>
      <vt:lpstr>JetBrains Mono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AMNA RASHEED</cp:lastModifiedBy>
  <cp:revision>51</cp:revision>
  <dcterms:created xsi:type="dcterms:W3CDTF">2013-01-27T09:14:00Z</dcterms:created>
  <dcterms:modified xsi:type="dcterms:W3CDTF">2026-10-25T08:26:27Z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1476D626824748989E7465A2B32EF7FA_13</vt:lpwstr>
  </property>
</Properties>
</file>