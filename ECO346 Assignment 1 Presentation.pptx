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0.svg" ContentType="image/svg+xml"/>
  <Override PartName="/ppt/media/image16.svg" ContentType="image/svg+xml"/>
  <Override PartName="/ppt/media/image18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screen4x3"/>
  <p:notesSz cx="6858000" cy="9144000"/>
  <p:embeddedFontLs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86375"/>
            <a:ext cx="3740199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8399" y="5286375"/>
            <a:ext cx="7004000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7203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ECO346  |  DATA VISUALIZATION TECHNIQUES FOR ECONOMISTS</a:t>
            </a:r>
            <a:endParaRPr sz="12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6650" y="609600"/>
            <a:ext cx="57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1/5</a:t>
            </a:r>
            <a:endParaRPr sz="1200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000125"/>
            <a:ext cx="10101262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Visualizing Annual Earnings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
</a:t>
            </a:r>
            <a:r>
              <a:rPr sz="420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 by Age</a:t>
            </a:r>
            <a:endParaRPr sz="4200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379166"/>
            <a:ext cx="11582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PSLM sample • Sindh Urban • Ages 15–64</a:t>
            </a:r>
            <a:endParaRPr sz="18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725" y="5524500"/>
            <a:ext cx="4079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REGISTRATION NUMBER</a:t>
            </a:r>
            <a:endParaRPr sz="97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" y="5734050"/>
            <a:ext cx="4079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FA24-BEDS-011</a:t>
            </a:r>
            <a:endParaRPr sz="1650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6524" y="5524500"/>
            <a:ext cx="73754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VARIANT SPECIFICATION</a:t>
            </a:r>
            <a:endParaRPr sz="97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6524" y="5734050"/>
            <a:ext cx="737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Sindh Urban  •  Weighted analysis using household weights</a:t>
            </a:r>
            <a:endParaRPr sz="15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810000" y="1209675"/>
            <a:ext cx="79248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0480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399407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399407"/>
            <a:ext cx="38100" cy="6953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3379589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379589"/>
            <a:ext cx="38100" cy="6953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359771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330428"/>
            <a:ext cx="3048000" cy="813196"/>
          </a:xfrm>
          <a:prstGeom prst="roundRect">
            <a:avLst>
              <a:gd name="adj" fmla="val 937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925" y="2209800"/>
            <a:ext cx="7600950" cy="304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50482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Q2 • EARNINGS DISTRIBUTION</a:t>
            </a:r>
            <a:endParaRPr sz="975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2/5</a:t>
            </a:r>
            <a:endParaRPr sz="105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6343650"/>
            <a:ext cx="48220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subset. Weighted quantiles use household weight (hhweight).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90550"/>
            <a:ext cx="6500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Annual earnings are strongly spread out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904875"/>
            <a:ext cx="6191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Positive annual earners • Sindh Urban • Ages 15–64</a:t>
            </a:r>
            <a:endParaRPr sz="97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1323975"/>
            <a:ext cx="28384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VALID EARNERS </a:t>
            </a:r>
            <a:r>
              <a:rPr sz="8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After sample and missing-value filters</a:t>
            </a:r>
            <a:endParaRPr sz="8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2513707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F4444"/>
                </a:solidFill>
                <a:latin typeface="Times New Roman" panose="02020603050405020304" charset="0"/>
                <a:cs typeface="Times New Roman" panose="02020603050405020304" charset="0"/>
              </a:rPr>
              <a:t>WEIGHTED MEDIAN</a:t>
            </a:r>
            <a:endParaRPr sz="825" b="1" i="0" u="none">
              <a:solidFill>
                <a:srgbClr val="EF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600" y="3493889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Times New Roman" panose="02020603050405020304" charset="0"/>
                <a:cs typeface="Times New Roman" panose="02020603050405020304" charset="0"/>
              </a:rPr>
              <a:t>WEIGHTED P90</a:t>
            </a:r>
            <a:endParaRPr sz="825" b="1" i="0" u="none">
              <a:solidFill>
                <a:srgbClr val="16A3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71925" y="1371600"/>
            <a:ext cx="82200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Most Earners Receive Less Than the Highest-Earning Group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71925" y="5867400"/>
            <a:ext cx="82200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| Sindh urban earners, ages 15–64, positive earnings | Weighted by hhweight | 2 earners outside histogram range</a:t>
            </a:r>
            <a:endParaRPr sz="75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9125" y="1524000"/>
            <a:ext cx="34051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2,644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700" y="2704207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264,000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700" y="3684389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696,000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9125" y="4778871"/>
            <a:ext cx="11334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P10 = Rs 120,000</a:t>
            </a:r>
            <a:endParaRPr sz="82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9125" y="5454253"/>
            <a:ext cx="2819400" cy="565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sz="825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Key finding:</a:t>
            </a:r>
            <a:r>
              <a:rPr sz="825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the 90th-percentile earner receives about 5.8 times the 10th-percentile earner. The weighted median (Rs 264,000) is slightly above the unweighted median (Rs 252,000).</a:t>
            </a:r>
            <a:endParaRPr sz="825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9125" y="4578846"/>
            <a:ext cx="1095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P90 / P10 RATIO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7500" y="4483596"/>
            <a:ext cx="7715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5.8×</a:t>
            </a:r>
            <a:endParaRPr sz="165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000500" y="1209675"/>
            <a:ext cx="77343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238500" cy="866775"/>
          </a:xfrm>
          <a:prstGeom prst="roundRect">
            <a:avLst>
              <a:gd name="adj" fmla="val 879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189041"/>
            <a:ext cx="3238500" cy="954583"/>
          </a:xfrm>
          <a:prstGeom prst="roundRect">
            <a:avLst>
              <a:gd name="adj" fmla="val 79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2425" y="2152650"/>
            <a:ext cx="7410450" cy="3048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37205"/>
          <a:ext cx="3238500" cy="1581150"/>
        </p:xfrm>
        <a:graphic>
          <a:graphicData uri="http://schemas.openxmlformats.org/drawingml/2006/table">
            <a:tbl>
              <a:tblPr/>
              <a:tblGrid>
                <a:gridCol w="1090295"/>
                <a:gridCol w="503555"/>
                <a:gridCol w="1644650"/>
              </a:tblGrid>
              <a:tr h="31623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Age band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Weighted mean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25–29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398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303,153.9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45–49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250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431,696.7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55–59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157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542,400.0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60–64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72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414,262.5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1000"/>
            <a:ext cx="60388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Q3 • AGE AND EARNINGS</a:t>
            </a:r>
            <a:endParaRPr sz="975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3/5</a:t>
            </a:r>
            <a:endParaRPr sz="105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343650"/>
            <a:ext cx="260746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subset microdata.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90550"/>
            <a:ext cx="78009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generally rise with age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904875"/>
            <a:ext cx="742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Band means use household weights; age bands are five years wide</a:t>
            </a:r>
            <a:endParaRPr sz="97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1323975"/>
            <a:ext cx="30289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Times New Roman" panose="02020603050405020304" charset="0"/>
                <a:cs typeface="Times New Roman" panose="02020603050405020304" charset="0"/>
              </a:rPr>
              <a:t>PEAK EARNINGS AGE BAND</a:t>
            </a:r>
            <a:endParaRPr sz="825" b="1" i="0" u="none">
              <a:solidFill>
                <a:srgbClr val="1D4ED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62425" y="1371600"/>
            <a:ext cx="8029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Peak at Ages 55–59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62425" y="5753100"/>
            <a:ext cx="7505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PSLM 2019–20 | Sindh urban earners, ages 15–64, with positive annual earnings | Weighted by household weight | Hollow markers indicate age bands with fewer than 30 earners</a:t>
            </a:r>
            <a:endParaRPr sz="75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125" y="1543050"/>
            <a:ext cx="3643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Ages 55–59</a:t>
            </a:r>
            <a:endParaRPr sz="15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125" y="1790700"/>
            <a:ext cx="3643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charset="0"/>
                <a:cs typeface="Times New Roman" panose="02020603050405020304" charset="0"/>
              </a:rPr>
              <a:t>Weighted Mean: Rs 542,400</a:t>
            </a:r>
            <a:endParaRPr sz="1050" b="1" i="0" u="none">
              <a:solidFill>
                <a:srgbClr val="2563E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2846933"/>
            <a:ext cx="4048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SELECTED AGE-BAND RESULTS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9125" y="5312866"/>
            <a:ext cx="30099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sz="1030" b="1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Interpretation:</a:t>
            </a:r>
            <a:r>
              <a:rPr sz="1030" b="0" i="0" u="none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 earnings do not increase smoothly at every age band. The pattern is consistent with experience-related earnings growth, but the cross-sectional data cannot prove that individuals' earnings rise as they age.</a:t>
            </a:r>
            <a:endParaRPr sz="1030" b="0" i="0" u="none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038225"/>
            <a:ext cx="5514975" cy="5105400"/>
          </a:xfrm>
          <a:prstGeom prst="roundRect">
            <a:avLst>
              <a:gd name="adj" fmla="val 14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00775" y="1038225"/>
            <a:ext cx="5534025" cy="5105400"/>
          </a:xfrm>
          <a:prstGeom prst="roundRect">
            <a:avLst>
              <a:gd name="adj" fmla="val 1492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7250" y="1247775"/>
            <a:ext cx="1104900" cy="17145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6450" y="1257300"/>
            <a:ext cx="1828800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1543050"/>
            <a:ext cx="5114925" cy="2095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552575"/>
            <a:ext cx="5114925" cy="2095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47825"/>
            <a:ext cx="4905375" cy="1885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1657350"/>
            <a:ext cx="4905375" cy="1885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81000"/>
            <a:ext cx="58007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Q4 • DESIGN AND REPRODUCIBILITY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06200" y="547687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JetBrains Mono"/>
              </a:rPr>
              <a:t>4/5</a:t>
            </a:r>
            <a:endParaRPr sz="1050" b="1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343650"/>
            <a:ext cx="227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Inter"/>
              </a:rPr>
              <a:t>Side-by-Side Makeover Comparison</a:t>
            </a:r>
            <a:endParaRPr sz="82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590550"/>
            <a:ext cx="748843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Inter"/>
              </a:rPr>
              <a:t>Redesign makes the age pattern easier to read</a:t>
            </a:r>
            <a:endParaRPr sz="19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225" y="1238250"/>
            <a:ext cx="167520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DEFAULT GRAPH</a:t>
            </a:r>
            <a:endParaRPr sz="120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3450" y="1266825"/>
            <a:ext cx="10477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475569"/>
                </a:solidFill>
                <a:latin typeface="Inter"/>
              </a:rPr>
              <a:t>RAW POINTS ONLY</a:t>
            </a:r>
            <a:endParaRPr sz="825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" y="3788568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•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8675" y="4276725"/>
            <a:ext cx="6179343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Raw data points: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Individual observations overlap heavily.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3974306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•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8675" y="4531677"/>
            <a:ext cx="6179343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Overplotting: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High density makes central trends difficult to see.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2000" y="4160043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•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675" y="4751070"/>
            <a:ext cx="6179343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Unclear comparison: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Age-wise differences are obscured.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10325" y="1247775"/>
            <a:ext cx="178772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REDESIGN GRAPH</a:t>
            </a:r>
            <a:endParaRPr sz="1200" b="1" i="0" u="none">
              <a:solidFill>
                <a:srgbClr val="0369A1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72650" y="1276350"/>
            <a:ext cx="1771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LOG SCALE + WEIGHTED MEANS</a:t>
            </a:r>
            <a:endParaRPr sz="825" b="1" i="0" u="non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5100" y="3798093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369A1"/>
                </a:solidFill>
                <a:latin typeface="Inter"/>
              </a:rPr>
              <a:t>•</a:t>
            </a:r>
            <a:endParaRPr sz="975" b="0" i="0" u="none">
              <a:solidFill>
                <a:srgbClr val="0369A1"/>
              </a:solidFill>
              <a:latin typeface="Int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1775" y="4276725"/>
            <a:ext cx="5610225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0369A1"/>
                </a:solidFill>
                <a:latin typeface="Inter"/>
              </a:rPr>
              <a:t>Transparency: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Reduces visual effect of overlapping points.</a:t>
            </a:r>
            <a:endParaRPr sz="975" b="0" i="0" u="none">
              <a:solidFill>
                <a:srgbClr val="0369A1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5100" y="3983831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369A1"/>
                </a:solidFill>
                <a:latin typeface="Inter"/>
              </a:rPr>
              <a:t>•</a:t>
            </a:r>
            <a:endParaRPr sz="975" b="0" i="0" u="none">
              <a:solidFill>
                <a:srgbClr val="0369A1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1775" y="4513897"/>
            <a:ext cx="5610225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0369A1"/>
                </a:solidFill>
                <a:latin typeface="Inter"/>
              </a:rPr>
              <a:t>Log scale: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Makes the earnings distribution easier to compare.</a:t>
            </a:r>
            <a:endParaRPr sz="975" b="0" i="0" u="none">
              <a:solidFill>
                <a:srgbClr val="0369A1"/>
              </a:solidFill>
              <a:latin typeface="Inte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15100" y="4169568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369A1"/>
                </a:solidFill>
                <a:latin typeface="Inter"/>
              </a:rPr>
              <a:t>•</a:t>
            </a:r>
            <a:endParaRPr sz="975" b="0" i="0" u="none">
              <a:solidFill>
                <a:srgbClr val="0369A1"/>
              </a:solidFill>
              <a:latin typeface="Int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1775" y="4808220"/>
            <a:ext cx="5610225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1" i="0" u="none">
                <a:solidFill>
                  <a:srgbClr val="0369A1"/>
                </a:solidFill>
                <a:latin typeface="Inter"/>
              </a:rPr>
              <a:t>Weighted mean markers: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Highlight key structural differences across age groups.</a:t>
            </a:r>
            <a:endParaRPr sz="975" b="0" i="0" u="none">
              <a:solidFill>
                <a:srgbClr val="0369A1"/>
              </a:solidFill>
              <a:latin typeface="Inter"/>
            </a:endParaRPr>
          </a:p>
        </p:txBody>
      </p:sp>
      <p:pic>
        <p:nvPicPr>
          <p:cNvPr id="33" name="Picture 32" descr="defaul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1532890"/>
            <a:ext cx="5486400" cy="2670810"/>
          </a:xfrm>
          <a:prstGeom prst="rect">
            <a:avLst/>
          </a:prstGeom>
        </p:spPr>
      </p:pic>
      <p:pic>
        <p:nvPicPr>
          <p:cNvPr id="34" name="Picture 33" descr="redesig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0775" y="1552575"/>
            <a:ext cx="5610225" cy="2660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486400"/>
            <a:ext cx="11277600" cy="695325"/>
          </a:xfrm>
          <a:prstGeom prst="roundRect">
            <a:avLst>
              <a:gd name="adj" fmla="val 82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0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0175" y="1204912"/>
            <a:ext cx="609600" cy="152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82275" y="1204912"/>
            <a:ext cx="990600" cy="1524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219325"/>
            <a:ext cx="5200650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2219325"/>
            <a:ext cx="5200650" cy="2000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305050"/>
            <a:ext cx="5029200" cy="1828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2305050"/>
            <a:ext cx="50292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81000"/>
            <a:ext cx="61722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Q5 • REPRODUCIBILITY AND VALIDATION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506200" y="547687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JetBrains Mono"/>
              </a:rPr>
              <a:t>5/5</a:t>
            </a:r>
            <a:endParaRPr sz="1050" b="1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6343650"/>
            <a:ext cx="30956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Inter"/>
              </a:rPr>
              <a:t>PSLM 2019–20 Microdata Analysis • Sindh Urban</a:t>
            </a:r>
            <a:endParaRPr sz="82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590550"/>
            <a:ext cx="797599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Inter"/>
              </a:rPr>
              <a:t>Cross-Validation between R and Python Pipelines</a:t>
            </a:r>
            <a:endParaRPr sz="19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125" y="5076825"/>
            <a:ext cx="6500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Generated via ggplot2 script with weighted survey parameters.</a:t>
            </a:r>
            <a:endParaRPr sz="825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72225" y="5076825"/>
            <a:ext cx="58197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Independent validation using Python matplotlib &amp; pandas scripts.</a:t>
            </a:r>
            <a:endParaRPr sz="825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5619750"/>
            <a:ext cx="3613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293B"/>
                </a:solidFill>
                <a:latin typeface="Inter"/>
              </a:rPr>
              <a:t>Reproducibility:</a:t>
            </a:r>
            <a:r>
              <a:rPr sz="900" b="0" i="0" u="none">
                <a:solidFill>
                  <a:srgbClr val="1E293B"/>
                </a:solidFill>
                <a:latin typeface="Inter"/>
              </a:rPr>
              <a:t> Obtaining identical results using the same dataset and source code.</a:t>
            </a:r>
            <a:endParaRPr sz="900" b="0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050" y="5619750"/>
            <a:ext cx="3613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293B"/>
                </a:solidFill>
                <a:latin typeface="Inter"/>
              </a:rPr>
              <a:t>Validation:</a:t>
            </a:r>
            <a:r>
              <a:rPr sz="900" b="0" i="0" u="none">
                <a:solidFill>
                  <a:srgbClr val="1E293B"/>
                </a:solidFill>
                <a:latin typeface="Inter"/>
              </a:rPr>
              <a:t> Verifying calculation correctness by cross-checking execution across dual environments.</a:t>
            </a:r>
            <a:endParaRPr sz="900" b="0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26300" y="5619750"/>
            <a:ext cx="36132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293B"/>
                </a:solidFill>
                <a:latin typeface="Inter"/>
              </a:rPr>
              <a:t>Cross-check Result:</a:t>
            </a:r>
            <a:r>
              <a:rPr sz="900" b="0" i="0" u="none">
                <a:solidFill>
                  <a:srgbClr val="1E293B"/>
                </a:solidFill>
                <a:latin typeface="Inter"/>
              </a:rPr>
              <a:t> Ages 25–29 weighted mean annual earnings exactly match at </a:t>
            </a:r>
            <a:r>
              <a:rPr sz="900" b="1" i="0" u="none">
                <a:solidFill>
                  <a:srgbClr val="1E293B"/>
                </a:solidFill>
                <a:latin typeface="Inter"/>
              </a:rPr>
              <a:t>Rs. 303,153.9</a:t>
            </a:r>
            <a:r>
              <a:rPr sz="900" b="0" i="0" u="none">
                <a:solidFill>
                  <a:srgbClr val="1E293B"/>
                </a:solidFill>
                <a:latin typeface="Inter"/>
              </a:rPr>
              <a:t> across both R and Python.</a:t>
            </a:r>
            <a:endParaRPr sz="900" b="0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9125" y="1200150"/>
            <a:ext cx="14097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R Pipeline Output</a:t>
            </a:r>
            <a:endParaRPr sz="10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67325" y="1223962"/>
            <a:ext cx="5905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FFFFFF"/>
                </a:solidFill>
                <a:latin typeface="Inter"/>
              </a:rPr>
              <a:t>R / ggplot2</a:t>
            </a:r>
            <a:endParaRPr sz="750" b="1" i="0" u="non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72225" y="1200150"/>
            <a:ext cx="1893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Python Pipeline Output</a:t>
            </a:r>
            <a:endParaRPr sz="10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39425" y="1223962"/>
            <a:ext cx="9715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FFFFFF"/>
                </a:solidFill>
                <a:latin typeface="Inter"/>
              </a:rPr>
              <a:t>Python / matplotlib</a:t>
            </a:r>
            <a:endParaRPr sz="750" b="1" i="0" u="none">
              <a:solidFill>
                <a:srgbClr val="FFFFFF"/>
              </a:solidFill>
              <a:latin typeface="Inter"/>
            </a:endParaRPr>
          </a:p>
        </p:txBody>
      </p:sp>
      <p:pic>
        <p:nvPicPr>
          <p:cNvPr id="28" name="Picture 27" descr="q3_age_earnings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300" y="1546860"/>
            <a:ext cx="5408930" cy="3412490"/>
          </a:xfrm>
          <a:prstGeom prst="rect">
            <a:avLst/>
          </a:prstGeom>
        </p:spPr>
      </p:pic>
      <p:pic>
        <p:nvPicPr>
          <p:cNvPr id="30" name="Picture 29" descr="q3_pyth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9665" y="1500505"/>
            <a:ext cx="5899785" cy="3504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3115</Words>
  <Application>WPS Presentation</Application>
  <PresentationFormat>On-screen Show (4:3)</PresentationFormat>
  <Paragraphs>178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Arial</vt:lpstr>
      <vt:lpstr>JetBrains Mono</vt:lpstr>
      <vt:lpstr>Segoe Print</vt:lpstr>
      <vt:lpstr>Inter</vt:lpstr>
      <vt:lpstr>Calibri</vt:lpstr>
      <vt:lpstr>Microsoft YaHei</vt:lpstr>
      <vt:lpstr>Arial Unicode MS</vt:lpstr>
      <vt:lpstr>Times New Roman</vt:lpstr>
      <vt:lpstr>tim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Tayyaba Noman</cp:lastModifiedBy>
  <cp:revision>2</cp:revision>
  <dcterms:created xsi:type="dcterms:W3CDTF">2013-01-27T09:14:00Z</dcterms:created>
  <dcterms:modified xsi:type="dcterms:W3CDTF">2026-10-24T18:40:39Z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1476D626824748989E7465A2B32EF7FA_13</vt:lpwstr>
  </property>
</Properties>
</file>